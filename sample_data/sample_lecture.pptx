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7" r:id="rId2"/>
    <p:sldId id="288" r:id="rId3"/>
    <p:sldId id="289" r:id="rId4"/>
    <p:sldId id="291" r:id="rId5"/>
    <p:sldId id="292" r:id="rId6"/>
    <p:sldId id="294" r:id="rId7"/>
    <p:sldId id="293" r:id="rId8"/>
    <p:sldId id="290" r:id="rId9"/>
    <p:sldId id="295" r:id="rId10"/>
    <p:sldId id="296" r:id="rId11"/>
    <p:sldId id="300" r:id="rId12"/>
    <p:sldId id="297" r:id="rId13"/>
    <p:sldId id="298" r:id="rId14"/>
    <p:sldId id="299" r:id="rId15"/>
    <p:sldId id="305" r:id="rId16"/>
    <p:sldId id="302" r:id="rId17"/>
    <p:sldId id="301" r:id="rId18"/>
    <p:sldId id="30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66FFFF"/>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91" autoAdjust="0"/>
    <p:restoredTop sz="93372" autoAdjust="0"/>
  </p:normalViewPr>
  <p:slideViewPr>
    <p:cSldViewPr snapToGrid="0">
      <p:cViewPr varScale="1">
        <p:scale>
          <a:sx n="77" d="100"/>
          <a:sy n="77" d="100"/>
        </p:scale>
        <p:origin x="9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A4AC-9866-0C45-8FBB-1C54D1FF80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C28FD9-2F6B-FD24-FDC2-46EB91818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40C1121-481D-6D96-0FE7-C033B390E93A}"/>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5" name="Footer Placeholder 4">
            <a:extLst>
              <a:ext uri="{FF2B5EF4-FFF2-40B4-BE49-F238E27FC236}">
                <a16:creationId xmlns:a16="http://schemas.microsoft.com/office/drawing/2014/main" id="{5C54EC0F-5760-FBFC-8EDD-CAB884E79D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50D2BD-F5D7-69BE-4247-BD936ADBD821}"/>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548142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4C1A4-558F-DEA3-4101-367F8EC5B18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3AE1DC-AA0E-8ACA-CE84-31A064995F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D499C1-F4DB-D5B7-0B1F-854ADEE5BE28}"/>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5" name="Footer Placeholder 4">
            <a:extLst>
              <a:ext uri="{FF2B5EF4-FFF2-40B4-BE49-F238E27FC236}">
                <a16:creationId xmlns:a16="http://schemas.microsoft.com/office/drawing/2014/main" id="{BFCCF2BF-50ED-5933-4E3A-F03BC38A2D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B3C1AE-90BA-B522-D9FC-3FBC9328DF9E}"/>
              </a:ext>
            </a:extLst>
          </p:cNvPr>
          <p:cNvSpPr>
            <a:spLocks noGrp="1"/>
          </p:cNvSpPr>
          <p:nvPr>
            <p:ph type="sldNum" sz="quarter" idx="12"/>
          </p:nvPr>
        </p:nvSpPr>
        <p:spPr/>
        <p:txBody>
          <a:bodyPr/>
          <a:lstStyle/>
          <a:p>
            <a:fld id="{B765901E-EA9D-44D4-BD09-68631E637A89}" type="slidenum">
              <a:rPr lang="en-IN" smtClean="0"/>
              <a:t>‹#›</a:t>
            </a:fld>
            <a:endParaRPr lang="en-IN"/>
          </a:p>
        </p:txBody>
      </p:sp>
      <p:sp>
        <p:nvSpPr>
          <p:cNvPr id="7" name="Rectangle 6">
            <a:extLst>
              <a:ext uri="{FF2B5EF4-FFF2-40B4-BE49-F238E27FC236}">
                <a16:creationId xmlns:a16="http://schemas.microsoft.com/office/drawing/2014/main" id="{1E4D1C9E-AE4E-569F-EF31-7FFD7C358797}"/>
              </a:ext>
            </a:extLst>
          </p:cNvPr>
          <p:cNvSpPr/>
          <p:nvPr userDrawn="1"/>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97915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4549F-EE9C-E3F2-1C21-E32EF84F0C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C3D7DB-5E47-5BC8-7619-B6FB25B84E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66354E-CA13-124F-6303-4A4F355F8EE6}"/>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5" name="Footer Placeholder 4">
            <a:extLst>
              <a:ext uri="{FF2B5EF4-FFF2-40B4-BE49-F238E27FC236}">
                <a16:creationId xmlns:a16="http://schemas.microsoft.com/office/drawing/2014/main" id="{B576FA89-C58F-AF88-252F-0877AC523F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C473DD-D655-2638-FF59-482C3C621E8B}"/>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2093696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9E672-A855-E0DB-850F-9FBA8A4C212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0B1538-7448-1B22-FE07-6352F5D0CD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EB4B821-233F-6E53-2774-08D8869EB2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B127BD-1037-4718-BA9F-3D649F8D4A5E}"/>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6" name="Footer Placeholder 5">
            <a:extLst>
              <a:ext uri="{FF2B5EF4-FFF2-40B4-BE49-F238E27FC236}">
                <a16:creationId xmlns:a16="http://schemas.microsoft.com/office/drawing/2014/main" id="{47A5D4CA-2247-9B1A-1258-95420E0778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CBAB9A-A913-8DAE-9B6C-09DC2889F144}"/>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2757124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41D3-797A-9763-34B8-802549ACBE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51F5B8-1EF4-08A0-6FB3-AED39A9432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75E07B-1721-B07A-0C20-7EBF936DBAA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BB9FCEB-65AC-6C22-9BE1-9E32DB313E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CDDA65-5EAC-08CF-8D0F-2281E82B91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3494930-DF47-02D9-B510-836D84496079}"/>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8" name="Footer Placeholder 7">
            <a:extLst>
              <a:ext uri="{FF2B5EF4-FFF2-40B4-BE49-F238E27FC236}">
                <a16:creationId xmlns:a16="http://schemas.microsoft.com/office/drawing/2014/main" id="{334BCF38-4394-4EA5-4FE4-34C5625ACF9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91B1A00-3416-2F3D-2F01-ABAC9EAA31C9}"/>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232004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75BC2-161D-3C77-786E-68685F0F86E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1CD39A-752E-3ED7-1B1C-986EDBD82429}"/>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4" name="Footer Placeholder 3">
            <a:extLst>
              <a:ext uri="{FF2B5EF4-FFF2-40B4-BE49-F238E27FC236}">
                <a16:creationId xmlns:a16="http://schemas.microsoft.com/office/drawing/2014/main" id="{6124F8E8-4B68-45A6-EB88-1AD123A0AF3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9BC23FF-B396-4E40-3210-D6496E38DBFA}"/>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3907620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5FD3A6-FC7F-7085-7122-F797A3B35B6C}"/>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3" name="Footer Placeholder 2">
            <a:extLst>
              <a:ext uri="{FF2B5EF4-FFF2-40B4-BE49-F238E27FC236}">
                <a16:creationId xmlns:a16="http://schemas.microsoft.com/office/drawing/2014/main" id="{0D7AE07E-ECE7-57C9-47A5-45E81291047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0D417E-55EC-974C-C1FA-41FD5DC188CD}"/>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3983731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2F6E3-9947-FC90-1E87-4DD9CECE52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48BB5A-FC97-0C26-9EC8-3650A3671A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094D544-A3A8-AC5C-23A2-D434AF502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B05224-06F2-2118-649A-923F365EB4D6}"/>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6" name="Footer Placeholder 5">
            <a:extLst>
              <a:ext uri="{FF2B5EF4-FFF2-40B4-BE49-F238E27FC236}">
                <a16:creationId xmlns:a16="http://schemas.microsoft.com/office/drawing/2014/main" id="{DCB1D6C8-E809-54B6-5F20-5B3AE21F9A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268A58-7E87-8AA7-32FE-2DABE8C61485}"/>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2603864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08215-7688-00D1-5227-441DB32B68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133BE16-D831-9B1E-6682-6D9F7A99CC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B00E9C-D13C-1962-3AFF-6E9EA676B3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531203-BF25-E372-11B8-F59CFCB85AFA}"/>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6" name="Footer Placeholder 5">
            <a:extLst>
              <a:ext uri="{FF2B5EF4-FFF2-40B4-BE49-F238E27FC236}">
                <a16:creationId xmlns:a16="http://schemas.microsoft.com/office/drawing/2014/main" id="{E80A9045-AE65-45F0-909D-DEFD891FC5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3E3E28-7590-F461-C4C6-D13B2C8C4412}"/>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300247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A2BB6-A2B6-6B90-EDA5-AEBF7C0644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6DBF89-64B1-FDC0-C228-0437870309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C18A04-1DCD-8BBE-047B-2841389F320E}"/>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5" name="Footer Placeholder 4">
            <a:extLst>
              <a:ext uri="{FF2B5EF4-FFF2-40B4-BE49-F238E27FC236}">
                <a16:creationId xmlns:a16="http://schemas.microsoft.com/office/drawing/2014/main" id="{DFA88175-287B-AD0C-945D-45E0C14D1B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47EAD7-C178-B1DE-C5D1-F3E08153EB9A}"/>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2410031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9C5CEA-37A5-FB01-77FA-B9876BE14C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56FBBF-754A-60E9-2991-CC05B6EE9F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B81D8D-F95B-2995-E2F1-5A6A390FE20F}"/>
              </a:ext>
            </a:extLst>
          </p:cNvPr>
          <p:cNvSpPr>
            <a:spLocks noGrp="1"/>
          </p:cNvSpPr>
          <p:nvPr>
            <p:ph type="dt" sz="half" idx="10"/>
          </p:nvPr>
        </p:nvSpPr>
        <p:spPr/>
        <p:txBody>
          <a:bodyPr/>
          <a:lstStyle/>
          <a:p>
            <a:fld id="{2E9D9BD0-B02E-4E87-AAA9-C6C46E166E6A}" type="datetimeFigureOut">
              <a:rPr lang="en-IN" smtClean="0"/>
              <a:t>12-05-2026</a:t>
            </a:fld>
            <a:endParaRPr lang="en-IN"/>
          </a:p>
        </p:txBody>
      </p:sp>
      <p:sp>
        <p:nvSpPr>
          <p:cNvPr id="5" name="Footer Placeholder 4">
            <a:extLst>
              <a:ext uri="{FF2B5EF4-FFF2-40B4-BE49-F238E27FC236}">
                <a16:creationId xmlns:a16="http://schemas.microsoft.com/office/drawing/2014/main" id="{683CC711-EE0B-163E-7F7C-BE14A16B2C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B2C26C-EE6E-BD55-FD60-911F3873CB47}"/>
              </a:ext>
            </a:extLst>
          </p:cNvPr>
          <p:cNvSpPr>
            <a:spLocks noGrp="1"/>
          </p:cNvSpPr>
          <p:nvPr>
            <p:ph type="sldNum" sz="quarter" idx="12"/>
          </p:nvPr>
        </p:nvSpPr>
        <p:spPr/>
        <p:txBody>
          <a:bodyPr/>
          <a:lstStyle/>
          <a:p>
            <a:fld id="{B765901E-EA9D-44D4-BD09-68631E637A89}" type="slidenum">
              <a:rPr lang="en-IN" smtClean="0"/>
              <a:t>‹#›</a:t>
            </a:fld>
            <a:endParaRPr lang="en-IN"/>
          </a:p>
        </p:txBody>
      </p:sp>
    </p:spTree>
    <p:extLst>
      <p:ext uri="{BB962C8B-B14F-4D97-AF65-F5344CB8AC3E}">
        <p14:creationId xmlns:p14="http://schemas.microsoft.com/office/powerpoint/2010/main" val="1857750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F2718E-076D-8917-BB32-1127E9561C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D17430F-C23C-6DBA-8320-5A7751DC3C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810752-6A39-2919-2192-28CFA36F57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9D9BD0-B02E-4E87-AAA9-C6C46E166E6A}" type="datetimeFigureOut">
              <a:rPr lang="en-IN" smtClean="0"/>
              <a:t>12-05-2026</a:t>
            </a:fld>
            <a:endParaRPr lang="en-IN"/>
          </a:p>
        </p:txBody>
      </p:sp>
      <p:sp>
        <p:nvSpPr>
          <p:cNvPr id="5" name="Footer Placeholder 4">
            <a:extLst>
              <a:ext uri="{FF2B5EF4-FFF2-40B4-BE49-F238E27FC236}">
                <a16:creationId xmlns:a16="http://schemas.microsoft.com/office/drawing/2014/main" id="{896E4518-3A1B-C134-79D3-AA60B46A3E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B24E0ED-E16C-D9D5-519D-8ED2CC513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65901E-EA9D-44D4-BD09-68631E637A89}" type="slidenum">
              <a:rPr lang="en-IN" smtClean="0"/>
              <a:t>‹#›</a:t>
            </a:fld>
            <a:endParaRPr lang="en-IN"/>
          </a:p>
        </p:txBody>
      </p:sp>
    </p:spTree>
    <p:extLst>
      <p:ext uri="{BB962C8B-B14F-4D97-AF65-F5344CB8AC3E}">
        <p14:creationId xmlns:p14="http://schemas.microsoft.com/office/powerpoint/2010/main" val="798568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B34C325-28D0-F152-3D7A-469733E1A869}"/>
              </a:ext>
            </a:extLst>
          </p:cNvPr>
          <p:cNvPicPr>
            <a:picLocks noChangeAspect="1"/>
          </p:cNvPicPr>
          <p:nvPr/>
        </p:nvPicPr>
        <p:blipFill>
          <a:blip r:embed="rId2"/>
          <a:stretch>
            <a:fillRect/>
          </a:stretch>
        </p:blipFill>
        <p:spPr>
          <a:xfrm>
            <a:off x="441434" y="0"/>
            <a:ext cx="6743026" cy="6786880"/>
          </a:xfrm>
          <a:prstGeom prst="rect">
            <a:avLst/>
          </a:prstGeom>
          <a:ln>
            <a:noFill/>
          </a:ln>
        </p:spPr>
      </p:pic>
      <p:pic>
        <p:nvPicPr>
          <p:cNvPr id="5" name="Content Placeholder 4">
            <a:extLst>
              <a:ext uri="{FF2B5EF4-FFF2-40B4-BE49-F238E27FC236}">
                <a16:creationId xmlns:a16="http://schemas.microsoft.com/office/drawing/2014/main" id="{6F4C01B2-D273-9ED2-A27B-731CDC7065B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331218" y="1276429"/>
            <a:ext cx="4419348" cy="4234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8722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347B9D-DA08-B7BB-7B2E-C207B3AA4682}"/>
              </a:ext>
            </a:extLst>
          </p:cNvPr>
          <p:cNvSpPr>
            <a:spLocks noGrp="1"/>
          </p:cNvSpPr>
          <p:nvPr>
            <p:ph idx="1"/>
          </p:nvPr>
        </p:nvSpPr>
        <p:spPr>
          <a:xfrm>
            <a:off x="551793" y="1253331"/>
            <a:ext cx="11493062" cy="4351338"/>
          </a:xfrm>
          <a:prstGeom prst="round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IN" sz="3200" b="1" i="1" dirty="0">
                <a:solidFill>
                  <a:srgbClr val="C00000"/>
                </a:solidFill>
              </a:rPr>
              <a:t>SUBJECT: </a:t>
            </a:r>
            <a:r>
              <a:rPr lang="en-IN" sz="3200" b="1" i="1" dirty="0">
                <a:solidFill>
                  <a:schemeClr val="tx1"/>
                </a:solidFill>
              </a:rPr>
              <a:t>SUPPLY CHAIN MANAGEMENT STRATEGY</a:t>
            </a:r>
          </a:p>
          <a:p>
            <a:endParaRPr lang="en-IN" sz="3200" b="1" i="1" dirty="0">
              <a:solidFill>
                <a:schemeClr val="tx1"/>
              </a:solidFill>
            </a:endParaRPr>
          </a:p>
          <a:p>
            <a:r>
              <a:rPr lang="en-IN" sz="3200" b="1" i="1" dirty="0">
                <a:solidFill>
                  <a:srgbClr val="C00000"/>
                </a:solidFill>
              </a:rPr>
              <a:t>CHAPTER: </a:t>
            </a:r>
            <a:r>
              <a:rPr lang="en-IN" sz="3200" b="1" i="1" dirty="0">
                <a:solidFill>
                  <a:schemeClr val="tx1"/>
                </a:solidFill>
              </a:rPr>
              <a:t>09</a:t>
            </a:r>
          </a:p>
          <a:p>
            <a:r>
              <a:rPr lang="en-IN" sz="3200" b="1" i="1" dirty="0">
                <a:solidFill>
                  <a:srgbClr val="C00000"/>
                </a:solidFill>
              </a:rPr>
              <a:t>CHAPTER TITLE: </a:t>
            </a:r>
            <a:r>
              <a:rPr lang="en-IN" sz="3200" b="1" i="1" dirty="0">
                <a:solidFill>
                  <a:schemeClr val="tx1"/>
                </a:solidFill>
              </a:rPr>
              <a:t>Inventory Management</a:t>
            </a:r>
            <a:endParaRPr lang="en-IN" sz="3200" b="1" i="1" u="sng" dirty="0">
              <a:solidFill>
                <a:schemeClr val="tx1"/>
              </a:solidFill>
              <a:effectLst>
                <a:outerShdw blurRad="38100" dist="38100" dir="2700000" algn="tl">
                  <a:srgbClr val="000000">
                    <a:alpha val="43137"/>
                  </a:srgbClr>
                </a:outerShdw>
              </a:effectLst>
            </a:endParaRPr>
          </a:p>
          <a:p>
            <a:endParaRPr lang="en-IN" sz="3200" b="1" i="1" dirty="0">
              <a:solidFill>
                <a:srgbClr val="C00000"/>
              </a:solidFill>
            </a:endParaRPr>
          </a:p>
          <a:p>
            <a:pPr indent="0">
              <a:buNone/>
            </a:pPr>
            <a:r>
              <a:rPr lang="en-IN" sz="2800" b="1" i="1" dirty="0">
                <a:solidFill>
                  <a:srgbClr val="C00000"/>
                </a:solidFill>
                <a:highlight>
                  <a:srgbClr val="FFFF00"/>
                </a:highlight>
              </a:rPr>
              <a:t>REFERENCE BOOK: </a:t>
            </a:r>
          </a:p>
          <a:p>
            <a:r>
              <a:rPr lang="en-IN" b="1" i="1" dirty="0">
                <a:solidFill>
                  <a:srgbClr val="0000CC"/>
                </a:solidFill>
                <a:effectLst>
                  <a:outerShdw blurRad="38100" dist="38100" dir="2700000" algn="tl">
                    <a:srgbClr val="000000">
                      <a:alpha val="43137"/>
                    </a:srgbClr>
                  </a:outerShdw>
                </a:effectLst>
              </a:rPr>
              <a:t>SUPPLY CHAIN MANAGEMENT (AN INDIAN ADAPTATION), N R SANDERS &amp; S </a:t>
            </a:r>
            <a:r>
              <a:rPr lang="en-IN" b="1" i="1" dirty="0" err="1">
                <a:solidFill>
                  <a:srgbClr val="0000CC"/>
                </a:solidFill>
                <a:effectLst>
                  <a:outerShdw blurRad="38100" dist="38100" dir="2700000" algn="tl">
                    <a:srgbClr val="000000">
                      <a:alpha val="43137"/>
                    </a:srgbClr>
                  </a:outerShdw>
                </a:effectLst>
              </a:rPr>
              <a:t>S</a:t>
            </a:r>
            <a:r>
              <a:rPr lang="en-IN" b="1" i="1" dirty="0">
                <a:solidFill>
                  <a:srgbClr val="0000CC"/>
                </a:solidFill>
                <a:effectLst>
                  <a:outerShdw blurRad="38100" dist="38100" dir="2700000" algn="tl">
                    <a:srgbClr val="000000">
                      <a:alpha val="43137"/>
                    </a:srgbClr>
                  </a:outerShdw>
                </a:effectLst>
              </a:rPr>
              <a:t> PADHI, WILEY, 3</a:t>
            </a:r>
            <a:r>
              <a:rPr lang="en-IN" b="1" i="1" baseline="30000" dirty="0">
                <a:solidFill>
                  <a:srgbClr val="0000CC"/>
                </a:solidFill>
                <a:effectLst>
                  <a:outerShdw blurRad="38100" dist="38100" dir="2700000" algn="tl">
                    <a:srgbClr val="000000">
                      <a:alpha val="43137"/>
                    </a:srgbClr>
                  </a:outerShdw>
                </a:effectLst>
              </a:rPr>
              <a:t>RD</a:t>
            </a:r>
            <a:r>
              <a:rPr lang="en-IN" b="1" i="1" dirty="0">
                <a:solidFill>
                  <a:srgbClr val="0000CC"/>
                </a:solidFill>
                <a:effectLst>
                  <a:outerShdw blurRad="38100" dist="38100" dir="2700000" algn="tl">
                    <a:srgbClr val="000000">
                      <a:alpha val="43137"/>
                    </a:srgbClr>
                  </a:outerShdw>
                </a:effectLst>
              </a:rPr>
              <a:t> ED. (2023)</a:t>
            </a:r>
          </a:p>
        </p:txBody>
      </p:sp>
    </p:spTree>
    <p:extLst>
      <p:ext uri="{BB962C8B-B14F-4D97-AF65-F5344CB8AC3E}">
        <p14:creationId xmlns:p14="http://schemas.microsoft.com/office/powerpoint/2010/main" val="2829368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C78A0-D8EB-F2A5-5B40-E785AD3A9F33}"/>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A2AD02A3-66CE-D3D4-6E6A-0CFB43EF4CD1}"/>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solidFill>
                  <a:srgbClr val="FFFF00"/>
                </a:solidFill>
              </a:rPr>
              <a:t>WHAT IS INVENTORY?</a:t>
            </a:r>
            <a:endParaRPr lang="en-IN" sz="9600" b="1" i="1" dirty="0">
              <a:solidFill>
                <a:srgbClr val="FFFF00"/>
              </a:solidFill>
            </a:endParaRPr>
          </a:p>
        </p:txBody>
      </p:sp>
      <p:sp>
        <p:nvSpPr>
          <p:cNvPr id="6" name="TextBox 5">
            <a:extLst>
              <a:ext uri="{FF2B5EF4-FFF2-40B4-BE49-F238E27FC236}">
                <a16:creationId xmlns:a16="http://schemas.microsoft.com/office/drawing/2014/main" id="{1553E7AE-DB4B-FC92-04D9-23D9F043C4AC}"/>
              </a:ext>
            </a:extLst>
          </p:cNvPr>
          <p:cNvSpPr txBox="1"/>
          <p:nvPr/>
        </p:nvSpPr>
        <p:spPr>
          <a:xfrm>
            <a:off x="818990" y="2414439"/>
            <a:ext cx="4729655" cy="2554545"/>
          </a:xfrm>
          <a:prstGeom prst="rect">
            <a:avLst/>
          </a:prstGeom>
          <a:solidFill>
            <a:srgbClr val="FFFFCC"/>
          </a:solidFill>
        </p:spPr>
        <p:txBody>
          <a:bodyPr wrap="square">
            <a:spAutoFit/>
          </a:bodyPr>
          <a:lstStyle/>
          <a:p>
            <a:pPr algn="just">
              <a:spcAft>
                <a:spcPts val="600"/>
              </a:spcAft>
            </a:pPr>
            <a:r>
              <a:rPr lang="en-US" sz="4000" dirty="0">
                <a:latin typeface="Times New Roman" panose="02020603050405020304" pitchFamily="18" charset="0"/>
                <a:cs typeface="Times New Roman" panose="02020603050405020304" pitchFamily="18" charset="0"/>
              </a:rPr>
              <a:t>Quantities of goods in stock, </a:t>
            </a:r>
            <a:r>
              <a:rPr lang="en-US" sz="4000" dirty="0" err="1">
                <a:latin typeface="Times New Roman" panose="02020603050405020304" pitchFamily="18" charset="0"/>
                <a:cs typeface="Times New Roman" panose="02020603050405020304" pitchFamily="18" charset="0"/>
              </a:rPr>
              <a:t>i.e</a:t>
            </a:r>
            <a:r>
              <a:rPr lang="en-US" sz="4000" dirty="0">
                <a:latin typeface="Times New Roman" panose="02020603050405020304" pitchFamily="18" charset="0"/>
                <a:cs typeface="Times New Roman" panose="02020603050405020304" pitchFamily="18" charset="0"/>
              </a:rPr>
              <a:t>, </a:t>
            </a:r>
            <a:r>
              <a:rPr lang="en-US" sz="4000" b="1" dirty="0">
                <a:solidFill>
                  <a:srgbClr val="0000FF"/>
                </a:solidFill>
                <a:latin typeface="Times New Roman" panose="02020603050405020304" pitchFamily="18" charset="0"/>
                <a:cs typeface="Times New Roman" panose="02020603050405020304" pitchFamily="18" charset="0"/>
              </a:rPr>
              <a:t>stock of raw materials and finished goods</a:t>
            </a:r>
            <a:r>
              <a:rPr lang="en-US" sz="4000" dirty="0">
                <a:latin typeface="Times New Roman" panose="02020603050405020304" pitchFamily="18" charset="0"/>
                <a:cs typeface="Times New Roman" panose="02020603050405020304" pitchFamily="18" charset="0"/>
              </a:rPr>
              <a:t>.</a:t>
            </a:r>
          </a:p>
        </p:txBody>
      </p:sp>
      <p:sp>
        <p:nvSpPr>
          <p:cNvPr id="2" name="Rectangle 1">
            <a:extLst>
              <a:ext uri="{FF2B5EF4-FFF2-40B4-BE49-F238E27FC236}">
                <a16:creationId xmlns:a16="http://schemas.microsoft.com/office/drawing/2014/main" id="{5D065309-D1E9-B49F-CDE4-BBF117A358AA}"/>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Content Placeholder 3">
            <a:extLst>
              <a:ext uri="{FF2B5EF4-FFF2-40B4-BE49-F238E27FC236}">
                <a16:creationId xmlns:a16="http://schemas.microsoft.com/office/drawing/2014/main" id="{EA3DE8D7-09AA-362F-6638-A9FEDBA946C2}"/>
              </a:ext>
            </a:extLst>
          </p:cNvPr>
          <p:cNvPicPr>
            <a:picLocks noChangeAspect="1"/>
          </p:cNvPicPr>
          <p:nvPr/>
        </p:nvPicPr>
        <p:blipFill>
          <a:blip r:embed="rId2"/>
          <a:stretch>
            <a:fillRect/>
          </a:stretch>
        </p:blipFill>
        <p:spPr>
          <a:xfrm>
            <a:off x="5894669" y="1756405"/>
            <a:ext cx="6105515" cy="3870611"/>
          </a:xfrm>
          <a:prstGeom prst="rect">
            <a:avLst/>
          </a:prstGeom>
        </p:spPr>
      </p:pic>
    </p:spTree>
    <p:extLst>
      <p:ext uri="{BB962C8B-B14F-4D97-AF65-F5344CB8AC3E}">
        <p14:creationId xmlns:p14="http://schemas.microsoft.com/office/powerpoint/2010/main" val="2394100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FD433-D7D4-E87F-06A1-F8E3296844FF}"/>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61002D86-1FDA-5B82-6543-913A2B23C0D6}"/>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800" b="1" dirty="0">
                <a:solidFill>
                  <a:srgbClr val="FFFF00"/>
                </a:solidFill>
              </a:rPr>
              <a:t>MANUFACTURING &amp; SERVICE  INVENTORY</a:t>
            </a:r>
            <a:endParaRPr lang="en-IN" sz="9600" b="1" i="1" dirty="0">
              <a:solidFill>
                <a:srgbClr val="FFFF00"/>
              </a:solidFill>
            </a:endParaRPr>
          </a:p>
        </p:txBody>
      </p:sp>
      <p:sp>
        <p:nvSpPr>
          <p:cNvPr id="6" name="TextBox 5">
            <a:extLst>
              <a:ext uri="{FF2B5EF4-FFF2-40B4-BE49-F238E27FC236}">
                <a16:creationId xmlns:a16="http://schemas.microsoft.com/office/drawing/2014/main" id="{A77DB255-DB35-32C0-07E1-EABEB31E84A3}"/>
              </a:ext>
            </a:extLst>
          </p:cNvPr>
          <p:cNvSpPr txBox="1"/>
          <p:nvPr/>
        </p:nvSpPr>
        <p:spPr>
          <a:xfrm>
            <a:off x="472966" y="945932"/>
            <a:ext cx="11303875" cy="5216813"/>
          </a:xfrm>
          <a:prstGeom prst="rect">
            <a:avLst/>
          </a:prstGeom>
          <a:solidFill>
            <a:srgbClr val="FFFFCC"/>
          </a:solidFill>
        </p:spPr>
        <p:txBody>
          <a:bodyPr wrap="square">
            <a:spAutoFit/>
          </a:bodyPr>
          <a:lstStyle/>
          <a:p>
            <a:pPr marL="342900" indent="-342900" algn="just">
              <a:spcAft>
                <a:spcPts val="600"/>
              </a:spcAft>
              <a:buFont typeface="Courier New" panose="02070309020205020404" pitchFamily="49" charset="0"/>
              <a:buChar char="o"/>
            </a:pPr>
            <a:r>
              <a:rPr lang="en-US" sz="2800" b="1" dirty="0">
                <a:solidFill>
                  <a:srgbClr val="C00000"/>
                </a:solidFill>
                <a:highlight>
                  <a:srgbClr val="FFFF00"/>
                </a:highlight>
                <a:latin typeface="Times New Roman" panose="02020603050405020304" pitchFamily="18" charset="0"/>
                <a:cs typeface="Times New Roman" panose="02020603050405020304" pitchFamily="18" charset="0"/>
              </a:rPr>
              <a:t>Manufacturing Inventory</a:t>
            </a:r>
            <a:r>
              <a:rPr lang="en-US" sz="2800" b="1" dirty="0">
                <a:highlight>
                  <a:srgbClr val="FFFF00"/>
                </a:highlight>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Manufacturing </a:t>
            </a:r>
            <a:r>
              <a:rPr lang="en-US" sz="2800" dirty="0" err="1">
                <a:latin typeface="Times New Roman" panose="02020603050405020304" pitchFamily="18" charset="0"/>
                <a:cs typeface="Times New Roman" panose="02020603050405020304" pitchFamily="18" charset="0"/>
              </a:rPr>
              <a:t>organisations</a:t>
            </a:r>
            <a:r>
              <a:rPr lang="en-US" sz="2800" dirty="0">
                <a:latin typeface="Times New Roman" panose="02020603050405020304" pitchFamily="18" charset="0"/>
                <a:cs typeface="Times New Roman" panose="02020603050405020304" pitchFamily="18" charset="0"/>
              </a:rPr>
              <a:t> carry inventory.</a:t>
            </a:r>
          </a:p>
          <a:p>
            <a:pPr marL="1257300" lvl="2" indent="-342900" algn="just">
              <a:spcAft>
                <a:spcPts val="600"/>
              </a:spcAft>
              <a:buFont typeface="Courier New" panose="02070309020205020404" pitchFamily="49" charset="0"/>
              <a:buChar char="o"/>
            </a:pPr>
            <a:r>
              <a:rPr lang="en-US" sz="2800" b="1" dirty="0">
                <a:solidFill>
                  <a:srgbClr val="0000FF"/>
                </a:solidFill>
                <a:latin typeface="Times New Roman" panose="02020603050405020304" pitchFamily="18" charset="0"/>
                <a:cs typeface="Times New Roman" panose="02020603050405020304" pitchFamily="18" charset="0"/>
              </a:rPr>
              <a:t>Inventory of Raw materials and component parts </a:t>
            </a:r>
            <a:r>
              <a:rPr lang="en-US" sz="2800" dirty="0">
                <a:latin typeface="Times New Roman" panose="02020603050405020304" pitchFamily="18" charset="0"/>
                <a:cs typeface="Times New Roman" panose="02020603050405020304" pitchFamily="18" charset="0"/>
              </a:rPr>
              <a:t>that are delivered from suppliers.</a:t>
            </a:r>
          </a:p>
          <a:p>
            <a:pPr marL="1257300" lvl="2" indent="-342900" algn="just">
              <a:spcAft>
                <a:spcPts val="600"/>
              </a:spcAft>
              <a:buFont typeface="Courier New" panose="02070309020205020404" pitchFamily="49" charset="0"/>
              <a:buChar char="o"/>
            </a:pPr>
            <a:r>
              <a:rPr lang="en-US" sz="2800" b="1" dirty="0">
                <a:solidFill>
                  <a:srgbClr val="0000FF"/>
                </a:solidFill>
                <a:latin typeface="Times New Roman" panose="02020603050405020304" pitchFamily="18" charset="0"/>
                <a:cs typeface="Times New Roman" panose="02020603050405020304" pitchFamily="18" charset="0"/>
              </a:rPr>
              <a:t>Work-in-process (WIP) inventory: </a:t>
            </a:r>
            <a:r>
              <a:rPr lang="en-US" sz="2800" dirty="0">
                <a:latin typeface="Times New Roman" panose="02020603050405020304" pitchFamily="18" charset="0"/>
                <a:cs typeface="Times New Roman" panose="02020603050405020304" pitchFamily="18" charset="0"/>
              </a:rPr>
              <a:t>Raw materials and component parts enter the production process</a:t>
            </a:r>
          </a:p>
          <a:p>
            <a:pPr marL="1257300" lvl="2" indent="-342900" algn="just">
              <a:spcAft>
                <a:spcPts val="600"/>
              </a:spcAft>
              <a:buFont typeface="Courier New" panose="02070309020205020404" pitchFamily="49" charset="0"/>
              <a:buChar char="o"/>
            </a:pPr>
            <a:r>
              <a:rPr lang="en-US" sz="2800" b="1" dirty="0">
                <a:solidFill>
                  <a:srgbClr val="0000FF"/>
                </a:solidFill>
                <a:latin typeface="Times New Roman" panose="02020603050405020304" pitchFamily="18" charset="0"/>
                <a:cs typeface="Times New Roman" panose="02020603050405020304" pitchFamily="18" charset="0"/>
              </a:rPr>
              <a:t>Inventory of Finished Goods</a:t>
            </a:r>
            <a:r>
              <a:rPr lang="en-US" sz="2800" dirty="0">
                <a:latin typeface="Times New Roman" panose="02020603050405020304" pitchFamily="18" charset="0"/>
                <a:cs typeface="Times New Roman" panose="02020603050405020304" pitchFamily="18" charset="0"/>
              </a:rPr>
              <a:t>: Stock of finished goods after the completion of the production process.   </a:t>
            </a:r>
          </a:p>
          <a:p>
            <a:pPr marL="342900" indent="-342900" algn="just">
              <a:spcAft>
                <a:spcPts val="600"/>
              </a:spcAft>
              <a:buFont typeface="Courier New" panose="02070309020205020404" pitchFamily="49" charset="0"/>
              <a:buChar char="o"/>
            </a:pPr>
            <a:r>
              <a:rPr lang="en-US" sz="2800" b="1" dirty="0">
                <a:solidFill>
                  <a:srgbClr val="C00000"/>
                </a:solidFill>
                <a:highlight>
                  <a:srgbClr val="FFFF00"/>
                </a:highlight>
                <a:latin typeface="Times New Roman" panose="02020603050405020304" pitchFamily="18" charset="0"/>
                <a:cs typeface="Times New Roman" panose="02020603050405020304" pitchFamily="18" charset="0"/>
              </a:rPr>
              <a:t>Service Inventory</a:t>
            </a:r>
            <a:r>
              <a:rPr lang="en-US" sz="2800" b="1" dirty="0">
                <a:highlight>
                  <a:srgbClr val="FFFF00"/>
                </a:highlight>
                <a:latin typeface="Times New Roman" panose="02020603050405020304" pitchFamily="18" charset="0"/>
                <a:cs typeface="Times New Roman" panose="02020603050405020304" pitchFamily="18" charset="0"/>
              </a:rPr>
              <a:t>: </a:t>
            </a:r>
          </a:p>
          <a:p>
            <a:pPr marL="800100" lvl="1" indent="-342900" algn="just">
              <a:spcAft>
                <a:spcPts val="600"/>
              </a:spcAft>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The tangible goods that support delivery of the service, such as medical tools in an operating room or soaps in a hotel chain. It also includes items sold as part of the service, such as hair products </a:t>
            </a:r>
            <a:r>
              <a:rPr lang="en-IN" sz="2800" dirty="0">
                <a:latin typeface="Times New Roman" panose="02020603050405020304" pitchFamily="18" charset="0"/>
                <a:cs typeface="Times New Roman" panose="02020603050405020304" pitchFamily="18" charset="0"/>
              </a:rPr>
              <a:t>at a beauty salon.</a:t>
            </a:r>
            <a:endParaRPr lang="en-US" sz="28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FCD8E933-BDA3-15CB-A1F8-F6782FE7CB28}"/>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60881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1DECD-7D86-B73D-55CC-07833AE17ACC}"/>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16852929-78ED-56CF-3520-C8FF70591ACC}"/>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rgbClr val="FFFF00"/>
                </a:solidFill>
              </a:rPr>
              <a:t>REASONS FOR CARRYING INVENTORY</a:t>
            </a:r>
            <a:endParaRPr lang="en-IN" sz="4800" b="1" dirty="0">
              <a:solidFill>
                <a:srgbClr val="FFFF00"/>
              </a:solidFill>
            </a:endParaRPr>
          </a:p>
        </p:txBody>
      </p:sp>
      <p:sp>
        <p:nvSpPr>
          <p:cNvPr id="2" name="Rectangle 1">
            <a:extLst>
              <a:ext uri="{FF2B5EF4-FFF2-40B4-BE49-F238E27FC236}">
                <a16:creationId xmlns:a16="http://schemas.microsoft.com/office/drawing/2014/main" id="{5D755725-2F1E-6B0C-2303-50C7AA6D22E0}"/>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Content Placeholder 3">
            <a:extLst>
              <a:ext uri="{FF2B5EF4-FFF2-40B4-BE49-F238E27FC236}">
                <a16:creationId xmlns:a16="http://schemas.microsoft.com/office/drawing/2014/main" id="{A5D28A07-D14A-2B67-AD9B-D94488B4B077}"/>
              </a:ext>
            </a:extLst>
          </p:cNvPr>
          <p:cNvGraphicFramePr>
            <a:graphicFrameLocks/>
          </p:cNvGraphicFramePr>
          <p:nvPr>
            <p:extLst>
              <p:ext uri="{D42A27DB-BD31-4B8C-83A1-F6EECF244321}">
                <p14:modId xmlns:p14="http://schemas.microsoft.com/office/powerpoint/2010/main" val="811083541"/>
              </p:ext>
            </p:extLst>
          </p:nvPr>
        </p:nvGraphicFramePr>
        <p:xfrm>
          <a:off x="488728" y="961698"/>
          <a:ext cx="11067396" cy="4572000"/>
        </p:xfrm>
        <a:graphic>
          <a:graphicData uri="http://schemas.openxmlformats.org/drawingml/2006/table">
            <a:tbl>
              <a:tblPr firstRow="1" bandRow="1">
                <a:tableStyleId>{E8B1032C-EA38-4F05-BA0D-38AFFFC7BED3}</a:tableStyleId>
              </a:tblPr>
              <a:tblGrid>
                <a:gridCol w="2758969">
                  <a:extLst>
                    <a:ext uri="{9D8B030D-6E8A-4147-A177-3AD203B41FA5}">
                      <a16:colId xmlns:a16="http://schemas.microsoft.com/office/drawing/2014/main" val="150438978"/>
                    </a:ext>
                  </a:extLst>
                </a:gridCol>
                <a:gridCol w="8308427">
                  <a:extLst>
                    <a:ext uri="{9D8B030D-6E8A-4147-A177-3AD203B41FA5}">
                      <a16:colId xmlns:a16="http://schemas.microsoft.com/office/drawing/2014/main" val="1463620852"/>
                    </a:ext>
                  </a:extLst>
                </a:gridCol>
              </a:tblGrid>
              <a:tr h="1024757">
                <a:tc>
                  <a:txBody>
                    <a:bodyPr/>
                    <a:lstStyle/>
                    <a:p>
                      <a:pPr algn="ctr"/>
                      <a:r>
                        <a:rPr lang="en-US" sz="3200" b="1" dirty="0">
                          <a:solidFill>
                            <a:srgbClr val="0000FF"/>
                          </a:solidFill>
                          <a:latin typeface="Times New Roman" panose="02020603050405020304" pitchFamily="18" charset="0"/>
                          <a:cs typeface="Times New Roman" panose="02020603050405020304" pitchFamily="18" charset="0"/>
                        </a:rPr>
                        <a:t>Protect Against Lead Time Demand</a:t>
                      </a:r>
                      <a:endParaRPr lang="en-IN" sz="3200" b="1" dirty="0">
                        <a:solidFill>
                          <a:srgbClr val="0000FF"/>
                        </a:solidFill>
                        <a:latin typeface="Times New Roman" panose="02020603050405020304" pitchFamily="18" charset="0"/>
                        <a:cs typeface="Times New Roman" panose="02020603050405020304" pitchFamily="18" charset="0"/>
                      </a:endParaRPr>
                    </a:p>
                  </a:txBody>
                  <a:tcPr anchor="ctr">
                    <a:solidFill>
                      <a:srgbClr val="FFFFCC"/>
                    </a:solidFill>
                  </a:tcPr>
                </a:tc>
                <a:tc>
                  <a:txBody>
                    <a:bodyPr/>
                    <a:lstStyle/>
                    <a:p>
                      <a:pPr algn="just"/>
                      <a:r>
                        <a:rPr lang="en-US" sz="3200" b="0" dirty="0">
                          <a:solidFill>
                            <a:schemeClr val="tx1"/>
                          </a:solidFill>
                          <a:latin typeface="Times New Roman" panose="02020603050405020304" pitchFamily="18" charset="0"/>
                          <a:cs typeface="Times New Roman" panose="02020603050405020304" pitchFamily="18" charset="0"/>
                        </a:rPr>
                        <a:t>Holding extra inventory (safety stock) to ensure you </a:t>
                      </a:r>
                      <a:r>
                        <a:rPr lang="en-US" sz="3200" b="1" dirty="0">
                          <a:solidFill>
                            <a:srgbClr val="FF0000"/>
                          </a:solidFill>
                          <a:latin typeface="Times New Roman" panose="02020603050405020304" pitchFamily="18" charset="0"/>
                          <a:cs typeface="Times New Roman" panose="02020603050405020304" pitchFamily="18" charset="0"/>
                        </a:rPr>
                        <a:t>have enough products to meet customer orders</a:t>
                      </a:r>
                      <a:r>
                        <a:rPr lang="en-US" sz="3200" b="0" dirty="0">
                          <a:solidFill>
                            <a:schemeClr val="tx1"/>
                          </a:solidFill>
                          <a:latin typeface="Times New Roman" panose="02020603050405020304" pitchFamily="18" charset="0"/>
                          <a:cs typeface="Times New Roman" panose="02020603050405020304" pitchFamily="18" charset="0"/>
                        </a:rPr>
                        <a:t> while waiting for new stock to arrive from suppliers</a:t>
                      </a:r>
                      <a:r>
                        <a:rPr lang="en-US" sz="3200" b="0" kern="1200" dirty="0">
                          <a:solidFill>
                            <a:schemeClr val="tx1"/>
                          </a:solidFill>
                          <a:effectLst/>
                          <a:latin typeface="Times New Roman" panose="02020603050405020304" pitchFamily="18" charset="0"/>
                          <a:cs typeface="Times New Roman" panose="02020603050405020304" pitchFamily="18" charset="0"/>
                        </a:rPr>
                        <a:t>. </a:t>
                      </a:r>
                      <a:endParaRPr lang="en-IN" sz="3200" b="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3143357063"/>
                  </a:ext>
                </a:extLst>
              </a:tr>
              <a:tr h="1082131">
                <a:tc>
                  <a:txBody>
                    <a:bodyPr/>
                    <a:lstStyle/>
                    <a:p>
                      <a:pPr algn="ctr"/>
                      <a:r>
                        <a:rPr lang="en-IN" sz="3200" b="1" u="none" strike="noStrike" kern="1200" baseline="0" dirty="0">
                          <a:solidFill>
                            <a:srgbClr val="0000FF"/>
                          </a:solidFill>
                          <a:latin typeface="Times New Roman" panose="02020603050405020304" pitchFamily="18" charset="0"/>
                          <a:cs typeface="Times New Roman" panose="02020603050405020304" pitchFamily="18" charset="0"/>
                        </a:rPr>
                        <a:t>Maintain Independence of Operations</a:t>
                      </a:r>
                      <a:endParaRPr lang="en-IN" sz="3200" b="1" dirty="0">
                        <a:solidFill>
                          <a:srgbClr val="0000FF"/>
                        </a:solidFill>
                        <a:latin typeface="Times New Roman" panose="02020603050405020304" pitchFamily="18" charset="0"/>
                        <a:cs typeface="Times New Roman" panose="02020603050405020304" pitchFamily="18" charset="0"/>
                      </a:endParaRPr>
                    </a:p>
                  </a:txBody>
                  <a:tcPr anchor="ctr">
                    <a:solidFill>
                      <a:srgbClr val="FFFFCC"/>
                    </a:solidFill>
                  </a:tcPr>
                </a:tc>
                <a:tc>
                  <a:txBody>
                    <a:bodyPr/>
                    <a:lstStyle/>
                    <a:p>
                      <a:pPr algn="just"/>
                      <a:r>
                        <a:rPr lang="en-US" sz="3200" b="0" dirty="0">
                          <a:solidFill>
                            <a:schemeClr val="tx1"/>
                          </a:solidFill>
                          <a:latin typeface="Times New Roman" panose="02020603050405020304" pitchFamily="18" charset="0"/>
                          <a:cs typeface="Times New Roman" panose="02020603050405020304" pitchFamily="18" charset="0"/>
                        </a:rPr>
                        <a:t>Holding enough buffer stock (raw materials, work-in-process, or finished goods) to ensure </a:t>
                      </a:r>
                      <a:r>
                        <a:rPr lang="en-US" sz="3200" b="1" dirty="0">
                          <a:solidFill>
                            <a:srgbClr val="FF0000"/>
                          </a:solidFill>
                          <a:latin typeface="Times New Roman" panose="02020603050405020304" pitchFamily="18" charset="0"/>
                          <a:cs typeface="Times New Roman" panose="02020603050405020304" pitchFamily="18" charset="0"/>
                        </a:rPr>
                        <a:t>production and sales continue uninterrupted by supply chain disruptions, vendor delays, or demand fluctuation</a:t>
                      </a:r>
                      <a:r>
                        <a:rPr lang="en-US" sz="3200" b="0" dirty="0">
                          <a:solidFill>
                            <a:schemeClr val="tx1"/>
                          </a:solidFill>
                          <a:latin typeface="Times New Roman" panose="02020603050405020304" pitchFamily="18" charset="0"/>
                          <a:cs typeface="Times New Roman" panose="02020603050405020304" pitchFamily="18" charset="0"/>
                        </a:rPr>
                        <a:t>s</a:t>
                      </a:r>
                      <a:r>
                        <a:rPr lang="en-US" sz="3200" b="0" kern="1200" dirty="0">
                          <a:solidFill>
                            <a:schemeClr val="tx1"/>
                          </a:solidFill>
                          <a:effectLst/>
                          <a:latin typeface="Times New Roman" panose="02020603050405020304" pitchFamily="18" charset="0"/>
                          <a:cs typeface="Times New Roman" panose="02020603050405020304" pitchFamily="18" charset="0"/>
                        </a:rPr>
                        <a:t>. </a:t>
                      </a:r>
                      <a:endParaRPr lang="en-IN" sz="3200" b="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3619266083"/>
                  </a:ext>
                </a:extLst>
              </a:tr>
            </a:tbl>
          </a:graphicData>
        </a:graphic>
      </p:graphicFrame>
    </p:spTree>
    <p:extLst>
      <p:ext uri="{BB962C8B-B14F-4D97-AF65-F5344CB8AC3E}">
        <p14:creationId xmlns:p14="http://schemas.microsoft.com/office/powerpoint/2010/main" val="183474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F9646-2FB6-EB48-5AEC-1C0AF6918928}"/>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7E503E43-0B77-AC79-6CA9-864C56AB0029}"/>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rgbClr val="FFFF00"/>
                </a:solidFill>
              </a:rPr>
              <a:t>REASONS FOR CARRYING INVENTORY</a:t>
            </a:r>
            <a:endParaRPr lang="en-IN" sz="4800" b="1" dirty="0">
              <a:solidFill>
                <a:srgbClr val="FFFF00"/>
              </a:solidFill>
            </a:endParaRPr>
          </a:p>
        </p:txBody>
      </p:sp>
      <p:sp>
        <p:nvSpPr>
          <p:cNvPr id="2" name="Rectangle 1">
            <a:extLst>
              <a:ext uri="{FF2B5EF4-FFF2-40B4-BE49-F238E27FC236}">
                <a16:creationId xmlns:a16="http://schemas.microsoft.com/office/drawing/2014/main" id="{A92396B7-BB4C-AA4F-A497-6E87D6DD023D}"/>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107BDEB1-FEE5-C3FD-F420-B99ADAC09B86}"/>
              </a:ext>
            </a:extLst>
          </p:cNvPr>
          <p:cNvPicPr>
            <a:picLocks noChangeAspect="1"/>
          </p:cNvPicPr>
          <p:nvPr/>
        </p:nvPicPr>
        <p:blipFill>
          <a:blip r:embed="rId2"/>
          <a:stretch>
            <a:fillRect/>
          </a:stretch>
        </p:blipFill>
        <p:spPr>
          <a:xfrm>
            <a:off x="504497" y="918767"/>
            <a:ext cx="11028741" cy="5612502"/>
          </a:xfrm>
          <a:prstGeom prst="rect">
            <a:avLst/>
          </a:prstGeom>
        </p:spPr>
      </p:pic>
    </p:spTree>
    <p:extLst>
      <p:ext uri="{BB962C8B-B14F-4D97-AF65-F5344CB8AC3E}">
        <p14:creationId xmlns:p14="http://schemas.microsoft.com/office/powerpoint/2010/main" val="2708379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0BEF-4724-ACAA-8569-DF0093B1D0FD}"/>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C68280F9-9A8D-0F2D-1025-BCBC9FEDF2E4}"/>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b="1" dirty="0">
                <a:solidFill>
                  <a:srgbClr val="FFFF00"/>
                </a:solidFill>
              </a:rPr>
              <a:t>TYPES OF INVENTORY</a:t>
            </a:r>
            <a:endParaRPr lang="en-IN" sz="4800" b="1" dirty="0">
              <a:solidFill>
                <a:srgbClr val="FFFF00"/>
              </a:solidFill>
            </a:endParaRPr>
          </a:p>
        </p:txBody>
      </p:sp>
      <p:sp>
        <p:nvSpPr>
          <p:cNvPr id="2" name="Rectangle 1">
            <a:extLst>
              <a:ext uri="{FF2B5EF4-FFF2-40B4-BE49-F238E27FC236}">
                <a16:creationId xmlns:a16="http://schemas.microsoft.com/office/drawing/2014/main" id="{AAD5934C-9460-F1FF-3E19-B41563252E8C}"/>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Content Placeholder 3">
            <a:extLst>
              <a:ext uri="{FF2B5EF4-FFF2-40B4-BE49-F238E27FC236}">
                <a16:creationId xmlns:a16="http://schemas.microsoft.com/office/drawing/2014/main" id="{8C929E4B-ED46-4EAB-F522-D67E348AA248}"/>
              </a:ext>
            </a:extLst>
          </p:cNvPr>
          <p:cNvGraphicFramePr>
            <a:graphicFrameLocks/>
          </p:cNvGraphicFramePr>
          <p:nvPr>
            <p:extLst>
              <p:ext uri="{D42A27DB-BD31-4B8C-83A1-F6EECF244321}">
                <p14:modId xmlns:p14="http://schemas.microsoft.com/office/powerpoint/2010/main" val="2612301861"/>
              </p:ext>
            </p:extLst>
          </p:nvPr>
        </p:nvGraphicFramePr>
        <p:xfrm>
          <a:off x="472966" y="945932"/>
          <a:ext cx="10883292" cy="5112377"/>
        </p:xfrm>
        <a:graphic>
          <a:graphicData uri="http://schemas.openxmlformats.org/drawingml/2006/table">
            <a:tbl>
              <a:tblPr firstRow="1" bandRow="1">
                <a:tableStyleId>{BDBED569-4797-4DF1-A0F4-6AAB3CD982D8}</a:tableStyleId>
              </a:tblPr>
              <a:tblGrid>
                <a:gridCol w="3125640">
                  <a:extLst>
                    <a:ext uri="{9D8B030D-6E8A-4147-A177-3AD203B41FA5}">
                      <a16:colId xmlns:a16="http://schemas.microsoft.com/office/drawing/2014/main" val="202874150"/>
                    </a:ext>
                  </a:extLst>
                </a:gridCol>
                <a:gridCol w="7757652">
                  <a:extLst>
                    <a:ext uri="{9D8B030D-6E8A-4147-A177-3AD203B41FA5}">
                      <a16:colId xmlns:a16="http://schemas.microsoft.com/office/drawing/2014/main" val="1441280549"/>
                    </a:ext>
                  </a:extLst>
                </a:gridCol>
              </a:tblGrid>
              <a:tr h="720557">
                <a:tc>
                  <a:txBody>
                    <a:bodyPr/>
                    <a:lstStyle/>
                    <a:p>
                      <a:pPr algn="ctr"/>
                      <a:r>
                        <a:rPr lang="en-IN" sz="2400" b="1" u="none" strike="noStrike" kern="1200" baseline="0" dirty="0">
                          <a:solidFill>
                            <a:srgbClr val="0000FF"/>
                          </a:solidFill>
                          <a:latin typeface="Times New Roman" panose="02020603050405020304" pitchFamily="18" charset="0"/>
                          <a:cs typeface="Times New Roman" panose="02020603050405020304" pitchFamily="18" charset="0"/>
                        </a:rPr>
                        <a:t>Cycle Stock </a:t>
                      </a:r>
                    </a:p>
                    <a:p>
                      <a:pPr algn="ctr"/>
                      <a:r>
                        <a:rPr lang="en-IN" sz="2400" b="1" u="none" strike="noStrike" kern="1200" baseline="0" dirty="0">
                          <a:solidFill>
                            <a:srgbClr val="0000FF"/>
                          </a:solidFill>
                          <a:latin typeface="Times New Roman" panose="02020603050405020304" pitchFamily="18" charset="0"/>
                          <a:cs typeface="Times New Roman" panose="02020603050405020304" pitchFamily="18" charset="0"/>
                        </a:rPr>
                        <a:t>(</a:t>
                      </a:r>
                      <a:r>
                        <a:rPr lang="en-IN" sz="2400" b="1" u="none" strike="noStrike" kern="1200" baseline="0" dirty="0">
                          <a:solidFill>
                            <a:schemeClr val="tx1"/>
                          </a:solidFill>
                          <a:highlight>
                            <a:srgbClr val="FFFF00"/>
                          </a:highlight>
                          <a:latin typeface="Times New Roman" panose="02020603050405020304" pitchFamily="18" charset="0"/>
                          <a:cs typeface="Times New Roman" panose="02020603050405020304" pitchFamily="18" charset="0"/>
                        </a:rPr>
                        <a:t>Lot Size Inventory</a:t>
                      </a:r>
                      <a:r>
                        <a:rPr lang="en-IN" sz="2400" b="1" u="none" strike="noStrike" kern="1200" baseline="0" dirty="0">
                          <a:solidFill>
                            <a:srgbClr val="0000FF"/>
                          </a:solidFill>
                          <a:latin typeface="Times New Roman" panose="02020603050405020304" pitchFamily="18" charset="0"/>
                          <a:cs typeface="Times New Roman" panose="02020603050405020304" pitchFamily="18" charset="0"/>
                        </a:rPr>
                        <a:t>)</a:t>
                      </a:r>
                      <a:endParaRPr lang="en-IN" sz="2400" b="1" dirty="0">
                        <a:solidFill>
                          <a:srgbClr val="0000FF"/>
                        </a:solidFill>
                        <a:latin typeface="Times New Roman" panose="02020603050405020304" pitchFamily="18" charset="0"/>
                        <a:cs typeface="Times New Roman" panose="02020603050405020304" pitchFamily="18" charset="0"/>
                      </a:endParaRPr>
                    </a:p>
                  </a:txBody>
                  <a:tcPr>
                    <a:solidFill>
                      <a:srgbClr val="FFFFCC"/>
                    </a:solidFill>
                  </a:tcPr>
                </a:tc>
                <a:tc>
                  <a:txBody>
                    <a:bodyPr/>
                    <a:lstStyle/>
                    <a:p>
                      <a:pPr algn="just"/>
                      <a:r>
                        <a:rPr lang="en-US" sz="2400" b="0" u="none" strike="noStrike" kern="1200" baseline="0" dirty="0">
                          <a:solidFill>
                            <a:schemeClr val="tx1"/>
                          </a:solidFill>
                          <a:latin typeface="Times New Roman" panose="02020603050405020304" pitchFamily="18" charset="0"/>
                          <a:ea typeface="+mn-ea"/>
                          <a:cs typeface="Times New Roman" panose="02020603050405020304" pitchFamily="18" charset="0"/>
                        </a:rPr>
                        <a:t>Inventory for immediate use and is computed based on </a:t>
                      </a:r>
                      <a:r>
                        <a:rPr lang="en-US" sz="2400" b="1" u="none" strike="noStrike" kern="1200" baseline="0" dirty="0">
                          <a:solidFill>
                            <a:srgbClr val="FF0000"/>
                          </a:solidFill>
                          <a:latin typeface="Times New Roman" panose="02020603050405020304" pitchFamily="18" charset="0"/>
                          <a:ea typeface="+mn-ea"/>
                          <a:cs typeface="Times New Roman" panose="02020603050405020304" pitchFamily="18" charset="0"/>
                        </a:rPr>
                        <a:t>expected demand over a certain time </a:t>
                      </a:r>
                      <a:r>
                        <a:rPr lang="en-IN" sz="2400" b="1" u="none" strike="noStrike" kern="1200" baseline="0" dirty="0">
                          <a:solidFill>
                            <a:srgbClr val="FF0000"/>
                          </a:solidFill>
                          <a:latin typeface="Times New Roman" panose="02020603050405020304" pitchFamily="18" charset="0"/>
                          <a:cs typeface="Times New Roman" panose="02020603050405020304" pitchFamily="18" charset="0"/>
                        </a:rPr>
                        <a:t>period</a:t>
                      </a:r>
                      <a:r>
                        <a:rPr lang="en-IN" sz="2400" b="0" u="none" strike="noStrike" kern="1200" baseline="0" dirty="0">
                          <a:solidFill>
                            <a:schemeClr val="tx1"/>
                          </a:solidFill>
                          <a:latin typeface="Times New Roman" panose="02020603050405020304" pitchFamily="18" charset="0"/>
                          <a:cs typeface="Times New Roman" panose="02020603050405020304" pitchFamily="18" charset="0"/>
                        </a:rPr>
                        <a:t>.</a:t>
                      </a:r>
                      <a:endParaRPr lang="en-IN" sz="240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993232979"/>
                  </a:ext>
                </a:extLst>
              </a:tr>
              <a:tr h="720557">
                <a:tc>
                  <a:txBody>
                    <a:bodyPr/>
                    <a:lstStyle/>
                    <a:p>
                      <a:pPr algn="ctr"/>
                      <a:r>
                        <a:rPr lang="en-IN" sz="2400" b="1" u="none" strike="noStrike" kern="1200" baseline="0" dirty="0">
                          <a:solidFill>
                            <a:srgbClr val="C00000"/>
                          </a:solidFill>
                          <a:latin typeface="Times New Roman" panose="02020603050405020304" pitchFamily="18" charset="0"/>
                          <a:cs typeface="Times New Roman" panose="02020603050405020304" pitchFamily="18" charset="0"/>
                        </a:rPr>
                        <a:t>Safety Stock </a:t>
                      </a:r>
                    </a:p>
                    <a:p>
                      <a:pPr algn="ctr"/>
                      <a:r>
                        <a:rPr lang="en-IN" sz="2400" b="1" u="none" strike="noStrike" kern="1200" baseline="0" dirty="0">
                          <a:solidFill>
                            <a:srgbClr val="C00000"/>
                          </a:solidFill>
                          <a:latin typeface="Times New Roman" panose="02020603050405020304" pitchFamily="18" charset="0"/>
                          <a:cs typeface="Times New Roman" panose="02020603050405020304" pitchFamily="18" charset="0"/>
                        </a:rPr>
                        <a:t>(</a:t>
                      </a:r>
                      <a:r>
                        <a:rPr lang="en-IN" sz="2400" b="1" u="none" strike="noStrike" kern="1200" baseline="0" dirty="0">
                          <a:solidFill>
                            <a:schemeClr val="tx1"/>
                          </a:solidFill>
                          <a:highlight>
                            <a:srgbClr val="FFFF00"/>
                          </a:highlight>
                          <a:latin typeface="Times New Roman" panose="02020603050405020304" pitchFamily="18" charset="0"/>
                          <a:cs typeface="Times New Roman" panose="02020603050405020304" pitchFamily="18" charset="0"/>
                        </a:rPr>
                        <a:t>Buffer Stock</a:t>
                      </a:r>
                      <a:r>
                        <a:rPr lang="en-IN" sz="2400" b="1" u="none" strike="noStrike" kern="1200" baseline="0" dirty="0">
                          <a:solidFill>
                            <a:srgbClr val="C00000"/>
                          </a:solidFill>
                          <a:latin typeface="Times New Roman" panose="02020603050405020304" pitchFamily="18" charset="0"/>
                          <a:cs typeface="Times New Roman" panose="02020603050405020304" pitchFamily="18" charset="0"/>
                        </a:rPr>
                        <a:t>)</a:t>
                      </a:r>
                      <a:endParaRPr lang="en-IN" sz="2400" b="1" dirty="0">
                        <a:solidFill>
                          <a:srgbClr val="C00000"/>
                        </a:solidFill>
                        <a:latin typeface="Times New Roman" panose="02020603050405020304" pitchFamily="18" charset="0"/>
                        <a:cs typeface="Times New Roman" panose="02020603050405020304" pitchFamily="18" charset="0"/>
                      </a:endParaRPr>
                    </a:p>
                  </a:txBody>
                  <a:tcPr>
                    <a:solidFill>
                      <a:srgbClr val="FFFFCC"/>
                    </a:solidFill>
                  </a:tcPr>
                </a:tc>
                <a:tc>
                  <a:txBody>
                    <a:bodyPr/>
                    <a:lstStyle/>
                    <a:p>
                      <a:pPr algn="just"/>
                      <a:r>
                        <a:rPr lang="en-US" sz="2400" b="0" u="none" strike="noStrike" kern="1200" baseline="0" dirty="0">
                          <a:solidFill>
                            <a:schemeClr val="tx1"/>
                          </a:solidFill>
                          <a:latin typeface="Times New Roman" panose="02020603050405020304" pitchFamily="18" charset="0"/>
                          <a:cs typeface="Times New Roman" panose="02020603050405020304" pitchFamily="18" charset="0"/>
                        </a:rPr>
                        <a:t>The </a:t>
                      </a:r>
                      <a:r>
                        <a:rPr lang="en-US" sz="2400" b="1" u="none" strike="noStrike" kern="1200" baseline="0" dirty="0">
                          <a:solidFill>
                            <a:srgbClr val="FF0000"/>
                          </a:solidFill>
                          <a:latin typeface="Times New Roman" panose="02020603050405020304" pitchFamily="18" charset="0"/>
                          <a:cs typeface="Times New Roman" panose="02020603050405020304" pitchFamily="18" charset="0"/>
                        </a:rPr>
                        <a:t>extra inventory the firm carry </a:t>
                      </a:r>
                      <a:r>
                        <a:rPr lang="en-US" sz="2400" b="0" u="none" strike="noStrike" kern="1200" baseline="0" dirty="0">
                          <a:solidFill>
                            <a:schemeClr val="tx1"/>
                          </a:solidFill>
                          <a:latin typeface="Times New Roman" panose="02020603050405020304" pitchFamily="18" charset="0"/>
                          <a:cs typeface="Times New Roman" panose="02020603050405020304" pitchFamily="18" charset="0"/>
                        </a:rPr>
                        <a:t>to serve as a cushion for uncertainties in supply and demand.</a:t>
                      </a:r>
                      <a:endParaRPr lang="en-IN" sz="240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2275475012"/>
                  </a:ext>
                </a:extLst>
              </a:tr>
              <a:tr h="1040805">
                <a:tc>
                  <a:txBody>
                    <a:bodyPr/>
                    <a:lstStyle/>
                    <a:p>
                      <a:pPr algn="ctr"/>
                      <a:r>
                        <a:rPr lang="en-IN" sz="2400" b="1" u="none" strike="noStrike" kern="1200" baseline="0" dirty="0">
                          <a:solidFill>
                            <a:srgbClr val="0000FF"/>
                          </a:solidFill>
                          <a:latin typeface="Times New Roman" panose="02020603050405020304" pitchFamily="18" charset="0"/>
                          <a:cs typeface="Times New Roman" panose="02020603050405020304" pitchFamily="18" charset="0"/>
                        </a:rPr>
                        <a:t>Anticipation inventory</a:t>
                      </a:r>
                      <a:endParaRPr lang="en-IN" sz="2400" b="1" dirty="0">
                        <a:solidFill>
                          <a:srgbClr val="0000FF"/>
                        </a:solidFill>
                        <a:latin typeface="Times New Roman" panose="02020603050405020304" pitchFamily="18" charset="0"/>
                        <a:cs typeface="Times New Roman" panose="02020603050405020304" pitchFamily="18" charset="0"/>
                      </a:endParaRPr>
                    </a:p>
                  </a:txBody>
                  <a:tcPr>
                    <a:solidFill>
                      <a:srgbClr val="FFFFCC"/>
                    </a:solidFill>
                  </a:tcPr>
                </a:tc>
                <a:tc>
                  <a:txBody>
                    <a:bodyPr/>
                    <a:lstStyle/>
                    <a:p>
                      <a:pPr algn="just"/>
                      <a:r>
                        <a:rPr lang="en-US" sz="2400" b="1" kern="1200" dirty="0">
                          <a:solidFill>
                            <a:srgbClr val="FF0000"/>
                          </a:solidFill>
                          <a:effectLst/>
                          <a:latin typeface="Times New Roman" panose="02020603050405020304" pitchFamily="18" charset="0"/>
                          <a:cs typeface="Times New Roman" panose="02020603050405020304" pitchFamily="18" charset="0"/>
                        </a:rPr>
                        <a:t>Extra stock acquired in advance of anticipated demand surges</a:t>
                      </a:r>
                      <a:r>
                        <a:rPr lang="en-US" sz="2400" b="0" kern="1200" dirty="0">
                          <a:solidFill>
                            <a:schemeClr val="tx1"/>
                          </a:solidFill>
                          <a:effectLst/>
                          <a:latin typeface="Times New Roman" panose="02020603050405020304" pitchFamily="18" charset="0"/>
                          <a:cs typeface="Times New Roman" panose="02020603050405020304" pitchFamily="18" charset="0"/>
                        </a:rPr>
                        <a:t>, seasonal spikes, or expected supply chain disruptions.</a:t>
                      </a:r>
                      <a:endParaRPr lang="en-IN" sz="240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242651483"/>
                  </a:ext>
                </a:extLst>
              </a:tr>
              <a:tr h="1040805">
                <a:tc>
                  <a:txBody>
                    <a:bodyPr/>
                    <a:lstStyle/>
                    <a:p>
                      <a:pPr algn="ctr"/>
                      <a:r>
                        <a:rPr lang="en-IN" sz="2400" b="1" u="none" strike="noStrike" kern="1200" baseline="0" dirty="0">
                          <a:solidFill>
                            <a:srgbClr val="C00000"/>
                          </a:solidFill>
                          <a:latin typeface="Times New Roman" panose="02020603050405020304" pitchFamily="18" charset="0"/>
                          <a:cs typeface="Times New Roman" panose="02020603050405020304" pitchFamily="18" charset="0"/>
                        </a:rPr>
                        <a:t>Pipeline inventory (</a:t>
                      </a:r>
                      <a:r>
                        <a:rPr lang="en-IN" sz="2400" b="1" u="none" strike="noStrike" kern="1200" baseline="0" dirty="0">
                          <a:solidFill>
                            <a:schemeClr val="tx1"/>
                          </a:solidFill>
                          <a:highlight>
                            <a:srgbClr val="FFFF00"/>
                          </a:highlight>
                          <a:latin typeface="Times New Roman" panose="02020603050405020304" pitchFamily="18" charset="0"/>
                          <a:cs typeface="Times New Roman" panose="02020603050405020304" pitchFamily="18" charset="0"/>
                        </a:rPr>
                        <a:t>Transportation Inventory</a:t>
                      </a:r>
                      <a:r>
                        <a:rPr lang="en-IN" sz="2400" b="1" u="none" strike="noStrike" kern="1200" baseline="0" dirty="0">
                          <a:solidFill>
                            <a:srgbClr val="C00000"/>
                          </a:solidFill>
                          <a:latin typeface="Times New Roman" panose="02020603050405020304" pitchFamily="18" charset="0"/>
                          <a:cs typeface="Times New Roman" panose="02020603050405020304" pitchFamily="18" charset="0"/>
                        </a:rPr>
                        <a:t>)</a:t>
                      </a:r>
                      <a:endParaRPr lang="en-IN" sz="2400" b="1" dirty="0">
                        <a:solidFill>
                          <a:srgbClr val="C00000"/>
                        </a:solidFill>
                        <a:latin typeface="Times New Roman" panose="02020603050405020304" pitchFamily="18" charset="0"/>
                        <a:cs typeface="Times New Roman" panose="02020603050405020304" pitchFamily="18" charset="0"/>
                      </a:endParaRPr>
                    </a:p>
                  </a:txBody>
                  <a:tcPr>
                    <a:solidFill>
                      <a:srgbClr val="FFFFCC"/>
                    </a:solidFill>
                  </a:tcPr>
                </a:tc>
                <a:tc>
                  <a:txBody>
                    <a:bodyPr/>
                    <a:lstStyle/>
                    <a:p>
                      <a:pPr algn="just"/>
                      <a:r>
                        <a:rPr lang="en-US" sz="2400" b="0" kern="1200" dirty="0">
                          <a:solidFill>
                            <a:schemeClr val="tx1"/>
                          </a:solidFill>
                          <a:effectLst/>
                          <a:latin typeface="Times New Roman" panose="02020603050405020304" pitchFamily="18" charset="0"/>
                          <a:cs typeface="Times New Roman" panose="02020603050405020304" pitchFamily="18" charset="0"/>
                        </a:rPr>
                        <a:t>Goods that have been </a:t>
                      </a:r>
                      <a:r>
                        <a:rPr lang="en-US" sz="2400" b="1" kern="1200" dirty="0">
                          <a:solidFill>
                            <a:srgbClr val="FF0000"/>
                          </a:solidFill>
                          <a:effectLst/>
                          <a:latin typeface="Times New Roman" panose="02020603050405020304" pitchFamily="18" charset="0"/>
                          <a:cs typeface="Times New Roman" panose="02020603050405020304" pitchFamily="18" charset="0"/>
                        </a:rPr>
                        <a:t>ordered and paid for but are still in transit </a:t>
                      </a:r>
                      <a:r>
                        <a:rPr lang="en-US" sz="2400" b="0" kern="1200" dirty="0">
                          <a:solidFill>
                            <a:schemeClr val="tx1"/>
                          </a:solidFill>
                          <a:effectLst/>
                          <a:latin typeface="Times New Roman" panose="02020603050405020304" pitchFamily="18" charset="0"/>
                          <a:cs typeface="Times New Roman" panose="02020603050405020304" pitchFamily="18" charset="0"/>
                        </a:rPr>
                        <a:t>from a supplier to a warehouse or, finally, to the customer.</a:t>
                      </a:r>
                      <a:endParaRPr lang="en-IN" sz="240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578530379"/>
                  </a:ext>
                </a:extLst>
              </a:tr>
              <a:tr h="1236932">
                <a:tc>
                  <a:txBody>
                    <a:bodyPr/>
                    <a:lstStyle/>
                    <a:p>
                      <a:pPr algn="ctr"/>
                      <a:r>
                        <a:rPr lang="en-US" sz="2400" b="1" u="none" strike="noStrike" kern="1200" baseline="0" dirty="0">
                          <a:solidFill>
                            <a:srgbClr val="0000FF"/>
                          </a:solidFill>
                          <a:latin typeface="Times New Roman" panose="02020603050405020304" pitchFamily="18" charset="0"/>
                          <a:cs typeface="Times New Roman" panose="02020603050405020304" pitchFamily="18" charset="0"/>
                        </a:rPr>
                        <a:t>Maintenance, Repair &amp; Operating Items (MRO)</a:t>
                      </a:r>
                      <a:endParaRPr lang="en-IN" sz="2400" b="1" dirty="0">
                        <a:solidFill>
                          <a:srgbClr val="0000FF"/>
                        </a:solidFill>
                        <a:latin typeface="Times New Roman" panose="02020603050405020304" pitchFamily="18" charset="0"/>
                        <a:cs typeface="Times New Roman" panose="02020603050405020304" pitchFamily="18" charset="0"/>
                      </a:endParaRPr>
                    </a:p>
                  </a:txBody>
                  <a:tcPr>
                    <a:solidFill>
                      <a:srgbClr val="FFFFCC"/>
                    </a:solidFill>
                  </a:tcPr>
                </a:tc>
                <a:tc>
                  <a:txBody>
                    <a:bodyPr/>
                    <a:lstStyle/>
                    <a:p>
                      <a:pPr algn="just"/>
                      <a:r>
                        <a:rPr lang="en-US" sz="2400" b="0" kern="1200" dirty="0">
                          <a:solidFill>
                            <a:schemeClr val="tx1"/>
                          </a:solidFill>
                          <a:effectLst/>
                          <a:latin typeface="Times New Roman" panose="02020603050405020304" pitchFamily="18" charset="0"/>
                          <a:cs typeface="Times New Roman" panose="02020603050405020304" pitchFamily="18" charset="0"/>
                        </a:rPr>
                        <a:t>Supplies, consumables, and spare parts used to support daily production and facility upkeep without becoming part of the finished product</a:t>
                      </a:r>
                      <a:endParaRPr lang="en-IN" sz="240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2421037833"/>
                  </a:ext>
                </a:extLst>
              </a:tr>
            </a:tbl>
          </a:graphicData>
        </a:graphic>
      </p:graphicFrame>
    </p:spTree>
    <p:extLst>
      <p:ext uri="{BB962C8B-B14F-4D97-AF65-F5344CB8AC3E}">
        <p14:creationId xmlns:p14="http://schemas.microsoft.com/office/powerpoint/2010/main" val="63033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64C1-F578-C485-CDCF-C7282F498F60}"/>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8F2F44FD-0405-32F3-EE7F-04A14923E685}"/>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rgbClr val="FFFF00"/>
                </a:solidFill>
              </a:rPr>
              <a:t>INVENTORY COSTS</a:t>
            </a:r>
          </a:p>
        </p:txBody>
      </p:sp>
      <p:sp>
        <p:nvSpPr>
          <p:cNvPr id="2" name="Rectangle 1">
            <a:extLst>
              <a:ext uri="{FF2B5EF4-FFF2-40B4-BE49-F238E27FC236}">
                <a16:creationId xmlns:a16="http://schemas.microsoft.com/office/drawing/2014/main" id="{2FC81B70-2EC4-2C6A-EBEB-2BF85488E536}"/>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Content Placeholder 3">
            <a:extLst>
              <a:ext uri="{FF2B5EF4-FFF2-40B4-BE49-F238E27FC236}">
                <a16:creationId xmlns:a16="http://schemas.microsoft.com/office/drawing/2014/main" id="{27D02DCD-CE4E-1C16-9F69-92E45A4C60FD}"/>
              </a:ext>
            </a:extLst>
          </p:cNvPr>
          <p:cNvGraphicFramePr>
            <a:graphicFrameLocks/>
          </p:cNvGraphicFramePr>
          <p:nvPr>
            <p:extLst>
              <p:ext uri="{D42A27DB-BD31-4B8C-83A1-F6EECF244321}">
                <p14:modId xmlns:p14="http://schemas.microsoft.com/office/powerpoint/2010/main" val="3067262700"/>
              </p:ext>
            </p:extLst>
          </p:nvPr>
        </p:nvGraphicFramePr>
        <p:xfrm>
          <a:off x="472965" y="945932"/>
          <a:ext cx="11207758" cy="5286260"/>
        </p:xfrm>
        <a:graphic>
          <a:graphicData uri="http://schemas.openxmlformats.org/drawingml/2006/table">
            <a:tbl>
              <a:tblPr firstRow="1" bandRow="1">
                <a:tableStyleId>{5DA37D80-6434-44D0-A028-1B22A696006F}</a:tableStyleId>
              </a:tblPr>
              <a:tblGrid>
                <a:gridCol w="2452775">
                  <a:extLst>
                    <a:ext uri="{9D8B030D-6E8A-4147-A177-3AD203B41FA5}">
                      <a16:colId xmlns:a16="http://schemas.microsoft.com/office/drawing/2014/main" val="3389141217"/>
                    </a:ext>
                  </a:extLst>
                </a:gridCol>
                <a:gridCol w="8754983">
                  <a:extLst>
                    <a:ext uri="{9D8B030D-6E8A-4147-A177-3AD203B41FA5}">
                      <a16:colId xmlns:a16="http://schemas.microsoft.com/office/drawing/2014/main" val="1080649611"/>
                    </a:ext>
                  </a:extLst>
                </a:gridCol>
              </a:tblGrid>
              <a:tr h="1541952">
                <a:tc>
                  <a:txBody>
                    <a:bodyPr/>
                    <a:lstStyle/>
                    <a:p>
                      <a:pPr algn="ctr"/>
                      <a:r>
                        <a:rPr lang="en-IN" sz="2400" b="1" u="none" strike="noStrike" kern="1200" baseline="0" dirty="0">
                          <a:solidFill>
                            <a:schemeClr val="tx1"/>
                          </a:solidFill>
                          <a:latin typeface="Times New Roman" panose="02020603050405020304" pitchFamily="18" charset="0"/>
                          <a:cs typeface="Times New Roman" panose="02020603050405020304" pitchFamily="18" charset="0"/>
                        </a:rPr>
                        <a:t>Holding Cost (</a:t>
                      </a:r>
                      <a:r>
                        <a:rPr lang="en-IN" sz="2400" b="1" u="none" strike="noStrike" kern="1200" baseline="0" dirty="0">
                          <a:solidFill>
                            <a:schemeClr val="tx1"/>
                          </a:solidFill>
                          <a:highlight>
                            <a:srgbClr val="FFFF00"/>
                          </a:highlight>
                          <a:latin typeface="Times New Roman" panose="02020603050405020304" pitchFamily="18" charset="0"/>
                          <a:cs typeface="Times New Roman" panose="02020603050405020304" pitchFamily="18" charset="0"/>
                        </a:rPr>
                        <a:t>Carrying Cost</a:t>
                      </a:r>
                      <a:r>
                        <a:rPr lang="en-IN" sz="2400" b="1" u="none" strike="noStrike" kern="1200" baseline="0" dirty="0">
                          <a:solidFill>
                            <a:schemeClr val="tx1"/>
                          </a:solidFill>
                          <a:latin typeface="Times New Roman" panose="02020603050405020304" pitchFamily="18" charset="0"/>
                          <a:cs typeface="Times New Roman" panose="02020603050405020304" pitchFamily="18" charset="0"/>
                        </a:rPr>
                        <a:t>)</a:t>
                      </a:r>
                      <a:endParaRPr lang="en-IN" sz="2400" b="1" dirty="0">
                        <a:solidFill>
                          <a:schemeClr val="tx1"/>
                        </a:solidFill>
                        <a:latin typeface="Times New Roman" panose="02020603050405020304" pitchFamily="18" charset="0"/>
                        <a:cs typeface="Times New Roman" panose="02020603050405020304" pitchFamily="18" charset="0"/>
                      </a:endParaRPr>
                    </a:p>
                  </a:txBody>
                  <a:tcPr anchor="ctr">
                    <a:solidFill>
                      <a:srgbClr val="FFFFCC"/>
                    </a:solidFill>
                  </a:tcPr>
                </a:tc>
                <a:tc>
                  <a:txBody>
                    <a:bodyPr/>
                    <a:lstStyle/>
                    <a:p>
                      <a:pPr algn="just"/>
                      <a:endParaRPr lang="en-US" sz="2000" b="0" u="none" strike="noStrike" kern="1200" baseline="0" dirty="0">
                        <a:solidFill>
                          <a:schemeClr val="tx1"/>
                        </a:solidFill>
                        <a:latin typeface="Times New Roman" panose="02020603050405020304" pitchFamily="18" charset="0"/>
                        <a:cs typeface="Times New Roman" panose="02020603050405020304" pitchFamily="18" charset="0"/>
                      </a:endParaRPr>
                    </a:p>
                    <a:p>
                      <a:pPr algn="just"/>
                      <a:endParaRPr lang="en-US" sz="2000" b="0" u="none" strike="noStrike" kern="1200" baseline="0" dirty="0">
                        <a:solidFill>
                          <a:schemeClr val="tx1"/>
                        </a:solidFill>
                        <a:latin typeface="Times New Roman" panose="02020603050405020304" pitchFamily="18" charset="0"/>
                        <a:cs typeface="Times New Roman" panose="02020603050405020304" pitchFamily="18" charset="0"/>
                      </a:endParaRPr>
                    </a:p>
                    <a:p>
                      <a:pPr algn="just"/>
                      <a:endParaRPr lang="en-US" sz="2000" b="0" u="none" strike="noStrike" kern="1200" baseline="0" dirty="0">
                        <a:solidFill>
                          <a:schemeClr val="tx1"/>
                        </a:solidFill>
                        <a:latin typeface="Times New Roman" panose="02020603050405020304" pitchFamily="18" charset="0"/>
                        <a:cs typeface="Times New Roman" panose="02020603050405020304" pitchFamily="18" charset="0"/>
                      </a:endParaRPr>
                    </a:p>
                    <a:p>
                      <a:pPr algn="just"/>
                      <a:endParaRPr lang="en-US" sz="2000" b="0" u="none" strike="noStrike" kern="1200" baseline="0" dirty="0">
                        <a:solidFill>
                          <a:schemeClr val="tx1"/>
                        </a:solidFill>
                        <a:latin typeface="Times New Roman" panose="02020603050405020304" pitchFamily="18" charset="0"/>
                        <a:cs typeface="Times New Roman" panose="02020603050405020304" pitchFamily="18" charset="0"/>
                      </a:endParaRPr>
                    </a:p>
                    <a:p>
                      <a:pPr algn="just"/>
                      <a:endParaRPr lang="en-US" sz="2000" b="0" u="none" strike="noStrike" kern="1200" baseline="0" dirty="0">
                        <a:solidFill>
                          <a:schemeClr val="tx1"/>
                        </a:solidFill>
                        <a:latin typeface="Times New Roman" panose="02020603050405020304" pitchFamily="18" charset="0"/>
                        <a:cs typeface="Times New Roman" panose="02020603050405020304" pitchFamily="18" charset="0"/>
                      </a:endParaRPr>
                    </a:p>
                    <a:p>
                      <a:pPr algn="just"/>
                      <a:endParaRPr lang="en-US" sz="2000" b="0" u="none" strike="noStrike" kern="1200" baseline="0" dirty="0">
                        <a:solidFill>
                          <a:schemeClr val="tx1"/>
                        </a:solidFill>
                        <a:latin typeface="Times New Roman" panose="02020603050405020304" pitchFamily="18" charset="0"/>
                        <a:cs typeface="Times New Roman" panose="02020603050405020304" pitchFamily="18" charset="0"/>
                      </a:endParaRPr>
                    </a:p>
                    <a:p>
                      <a:pPr algn="just"/>
                      <a:endParaRPr lang="en-US" sz="2000" b="0" u="none" strike="noStrike" kern="1200" baseline="0" dirty="0">
                        <a:solidFill>
                          <a:schemeClr val="tx1"/>
                        </a:solidFill>
                        <a:latin typeface="Times New Roman" panose="02020603050405020304" pitchFamily="18" charset="0"/>
                        <a:cs typeface="Times New Roman" panose="02020603050405020304" pitchFamily="18" charset="0"/>
                      </a:endParaRPr>
                    </a:p>
                    <a:p>
                      <a:pPr algn="just"/>
                      <a:endParaRPr lang="en-US" sz="2000" b="0" u="none" strike="noStrike" kern="1200" baseline="0" dirty="0">
                        <a:solidFill>
                          <a:schemeClr val="tx1"/>
                        </a:solidFill>
                        <a:latin typeface="Times New Roman" panose="02020603050405020304" pitchFamily="18" charset="0"/>
                        <a:cs typeface="Times New Roman" panose="02020603050405020304" pitchFamily="18" charset="0"/>
                      </a:endParaRPr>
                    </a:p>
                    <a:p>
                      <a:pPr algn="just"/>
                      <a:endParaRPr lang="en-US" sz="2000" b="0" u="none" strike="noStrike" kern="1200" baseline="0" dirty="0">
                        <a:solidFill>
                          <a:schemeClr val="tx1"/>
                        </a:solidFill>
                        <a:latin typeface="Times New Roman" panose="02020603050405020304" pitchFamily="18" charset="0"/>
                        <a:cs typeface="Times New Roman" panose="02020603050405020304" pitchFamily="18" charset="0"/>
                      </a:endParaRPr>
                    </a:p>
                    <a:p>
                      <a:pPr algn="just"/>
                      <a:endParaRPr lang="en-IN" sz="2000" b="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2777576850"/>
                  </a:ext>
                </a:extLst>
              </a:tr>
              <a:tr h="1084889">
                <a:tc>
                  <a:txBody>
                    <a:bodyPr/>
                    <a:lstStyle/>
                    <a:p>
                      <a:pPr algn="ctr"/>
                      <a:r>
                        <a:rPr lang="en-US" sz="2400" b="1" u="none" strike="noStrike" kern="1200" baseline="0" dirty="0">
                          <a:solidFill>
                            <a:schemeClr val="tx1"/>
                          </a:solidFill>
                          <a:latin typeface="Times New Roman" panose="02020603050405020304" pitchFamily="18" charset="0"/>
                          <a:cs typeface="Times New Roman" panose="02020603050405020304" pitchFamily="18" charset="0"/>
                        </a:rPr>
                        <a:t>Ordering Cost (</a:t>
                      </a:r>
                      <a:r>
                        <a:rPr lang="en-US" sz="2400" b="1" u="none" strike="noStrike" kern="1200" baseline="0" dirty="0">
                          <a:solidFill>
                            <a:schemeClr val="tx1"/>
                          </a:solidFill>
                          <a:highlight>
                            <a:srgbClr val="FFFF00"/>
                          </a:highlight>
                          <a:latin typeface="Times New Roman" panose="02020603050405020304" pitchFamily="18" charset="0"/>
                          <a:cs typeface="Times New Roman" panose="02020603050405020304" pitchFamily="18" charset="0"/>
                        </a:rPr>
                        <a:t>Setup Cost</a:t>
                      </a:r>
                      <a:r>
                        <a:rPr lang="en-US" sz="2400" b="1" u="none" strike="noStrike" kern="1200" baseline="0" dirty="0">
                          <a:solidFill>
                            <a:schemeClr val="tx1"/>
                          </a:solidFill>
                          <a:latin typeface="Times New Roman" panose="02020603050405020304" pitchFamily="18" charset="0"/>
                          <a:cs typeface="Times New Roman" panose="02020603050405020304" pitchFamily="18" charset="0"/>
                        </a:rPr>
                        <a:t>)</a:t>
                      </a:r>
                      <a:endParaRPr lang="en-IN" sz="2400" b="1" dirty="0">
                        <a:solidFill>
                          <a:schemeClr val="tx1"/>
                        </a:solidFill>
                        <a:latin typeface="Times New Roman" panose="02020603050405020304" pitchFamily="18" charset="0"/>
                        <a:cs typeface="Times New Roman" panose="02020603050405020304" pitchFamily="18" charset="0"/>
                      </a:endParaRPr>
                    </a:p>
                  </a:txBody>
                  <a:tcPr anchor="ctr">
                    <a:solidFill>
                      <a:srgbClr val="FFFFCC"/>
                    </a:solidFill>
                  </a:tcPr>
                </a:tc>
                <a:tc>
                  <a:txBody>
                    <a:bodyPr/>
                    <a:lstStyle/>
                    <a:p>
                      <a:pPr algn="just"/>
                      <a:r>
                        <a:rPr lang="en-US" sz="2000" b="1" u="none" strike="noStrike" kern="1200" baseline="0" dirty="0">
                          <a:solidFill>
                            <a:srgbClr val="FF0000"/>
                          </a:solidFill>
                          <a:latin typeface="Times New Roman" panose="02020603050405020304" pitchFamily="18" charset="0"/>
                          <a:cs typeface="Times New Roman" panose="02020603050405020304" pitchFamily="18" charset="0"/>
                        </a:rPr>
                        <a:t>Costs involved in placing an order and procuring the item </a:t>
                      </a:r>
                      <a:r>
                        <a:rPr lang="en-US" sz="2000" b="0" u="none" strike="noStrike" kern="1200" baseline="0" dirty="0">
                          <a:solidFill>
                            <a:schemeClr val="tx1"/>
                          </a:solidFill>
                          <a:latin typeface="Times New Roman" panose="02020603050405020304" pitchFamily="18" charset="0"/>
                          <a:cs typeface="Times New Roman" panose="02020603050405020304" pitchFamily="18" charset="0"/>
                        </a:rPr>
                        <a:t>and involves deciding on order quantities, clerical costs involved in placing the order, tracking the order, and receiving it. </a:t>
                      </a:r>
                      <a:r>
                        <a:rPr lang="en-US" sz="2000" b="0" i="0" u="none" strike="noStrike" kern="1200" baseline="0" dirty="0">
                          <a:solidFill>
                            <a:schemeClr val="tx1"/>
                          </a:solidFill>
                          <a:latin typeface="Times New Roman" panose="02020603050405020304" pitchFamily="18" charset="0"/>
                          <a:ea typeface="+mn-ea"/>
                          <a:cs typeface="Times New Roman" panose="02020603050405020304" pitchFamily="18" charset="0"/>
                        </a:rPr>
                        <a:t>Lowering ordering cost will result in a higher inventory cost as we then have to carry more in stock.</a:t>
                      </a:r>
                      <a:endParaRPr lang="en-IN" sz="2000" b="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1456169965"/>
                  </a:ext>
                </a:extLst>
              </a:tr>
              <a:tr h="836180">
                <a:tc>
                  <a:txBody>
                    <a:bodyPr/>
                    <a:lstStyle/>
                    <a:p>
                      <a:pPr algn="ctr"/>
                      <a:r>
                        <a:rPr lang="en-US" sz="2400" b="1" u="none" strike="noStrike" kern="1200" baseline="0" dirty="0">
                          <a:solidFill>
                            <a:schemeClr val="tx1"/>
                          </a:solidFill>
                          <a:latin typeface="Times New Roman" panose="02020603050405020304" pitchFamily="18" charset="0"/>
                          <a:cs typeface="Times New Roman" panose="02020603050405020304" pitchFamily="18" charset="0"/>
                        </a:rPr>
                        <a:t>Shortage costs </a:t>
                      </a:r>
                      <a:endParaRPr lang="en-IN" sz="2400" b="1" dirty="0">
                        <a:solidFill>
                          <a:schemeClr val="tx1"/>
                        </a:solidFill>
                        <a:latin typeface="Times New Roman" panose="02020603050405020304" pitchFamily="18" charset="0"/>
                        <a:cs typeface="Times New Roman" panose="02020603050405020304" pitchFamily="18" charset="0"/>
                      </a:endParaRPr>
                    </a:p>
                  </a:txBody>
                  <a:tcPr anchor="ctr">
                    <a:solidFill>
                      <a:srgbClr val="FFFFCC"/>
                    </a:solidFill>
                  </a:tcPr>
                </a:tc>
                <a:tc>
                  <a:txBody>
                    <a:bodyPr/>
                    <a:lstStyle/>
                    <a:p>
                      <a:pPr algn="just"/>
                      <a:r>
                        <a:rPr lang="en-US" sz="2000" b="0" u="none" strike="noStrike" kern="1200" baseline="0" dirty="0">
                          <a:solidFill>
                            <a:schemeClr val="tx1"/>
                          </a:solidFill>
                          <a:latin typeface="Times New Roman" panose="02020603050405020304" pitchFamily="18" charset="0"/>
                          <a:cs typeface="Times New Roman" panose="02020603050405020304" pitchFamily="18" charset="0"/>
                        </a:rPr>
                        <a:t>Shortage costs occur when we run out of stock and  reflects the consequences of not having enough in inventory.</a:t>
                      </a:r>
                      <a:endParaRPr lang="en-IN" sz="2000" b="0" dirty="0">
                        <a:solidFill>
                          <a:schemeClr val="tx1"/>
                        </a:solidFill>
                        <a:latin typeface="Times New Roman" panose="02020603050405020304" pitchFamily="18" charset="0"/>
                        <a:cs typeface="Times New Roman" panose="02020603050405020304" pitchFamily="18" charset="0"/>
                      </a:endParaRPr>
                    </a:p>
                  </a:txBody>
                  <a:tcPr>
                    <a:solidFill>
                      <a:srgbClr val="FFFFCC"/>
                    </a:solidFill>
                  </a:tcPr>
                </a:tc>
                <a:extLst>
                  <a:ext uri="{0D108BD9-81ED-4DB2-BD59-A6C34878D82A}">
                    <a16:rowId xmlns:a16="http://schemas.microsoft.com/office/drawing/2014/main" val="954998448"/>
                  </a:ext>
                </a:extLst>
              </a:tr>
            </a:tbl>
          </a:graphicData>
        </a:graphic>
      </p:graphicFrame>
      <p:sp>
        <p:nvSpPr>
          <p:cNvPr id="8" name="TextBox 7">
            <a:extLst>
              <a:ext uri="{FF2B5EF4-FFF2-40B4-BE49-F238E27FC236}">
                <a16:creationId xmlns:a16="http://schemas.microsoft.com/office/drawing/2014/main" id="{40CB4456-DEBA-7DC1-DE3F-CC5D5B2CAA42}"/>
              </a:ext>
            </a:extLst>
          </p:cNvPr>
          <p:cNvSpPr txBox="1"/>
          <p:nvPr/>
        </p:nvSpPr>
        <p:spPr>
          <a:xfrm>
            <a:off x="2907171" y="1034426"/>
            <a:ext cx="3462361" cy="2862322"/>
          </a:xfrm>
          <a:prstGeom prst="rect">
            <a:avLst/>
          </a:prstGeom>
          <a:noFill/>
        </p:spPr>
        <p:txBody>
          <a:bodyPr wrap="square">
            <a:spAutoFit/>
          </a:bodyPr>
          <a:lstStyle/>
          <a:p>
            <a:pPr algn="just"/>
            <a:r>
              <a:rPr lang="en-US" sz="2000" b="1" u="none" strike="noStrike" kern="1200" baseline="0" dirty="0">
                <a:solidFill>
                  <a:srgbClr val="FF0000"/>
                </a:solidFill>
                <a:latin typeface="Times New Roman" panose="02020603050405020304" pitchFamily="18" charset="0"/>
                <a:cs typeface="Times New Roman" panose="02020603050405020304" pitchFamily="18" charset="0"/>
              </a:rPr>
              <a:t>Costs that vary with the amount of inventory held in stock, </a:t>
            </a:r>
            <a:r>
              <a:rPr lang="en-US" sz="2000" dirty="0">
                <a:latin typeface="Times New Roman" panose="02020603050405020304" pitchFamily="18" charset="0"/>
                <a:cs typeface="Times New Roman" panose="02020603050405020304" pitchFamily="18" charset="0"/>
              </a:rPr>
              <a:t>including </a:t>
            </a:r>
            <a:r>
              <a:rPr lang="en-IN" sz="2000" dirty="0">
                <a:latin typeface="Times New Roman" panose="02020603050405020304" pitchFamily="18" charset="0"/>
                <a:cs typeface="Times New Roman" panose="02020603050405020304" pitchFamily="18" charset="0"/>
              </a:rPr>
              <a:t>storage facilities, handling, insurance</a:t>
            </a:r>
            <a:r>
              <a:rPr lang="en-IN" sz="2000" b="0" u="none" strike="noStrike" kern="1200" baseline="0" dirty="0">
                <a:solidFill>
                  <a:schemeClr val="tx1"/>
                </a:solidFill>
                <a:latin typeface="Times New Roman" panose="02020603050405020304" pitchFamily="18" charset="0"/>
                <a:cs typeface="Times New Roman" panose="02020603050405020304" pitchFamily="18" charset="0"/>
              </a:rPr>
              <a:t>, breakage, </a:t>
            </a:r>
            <a:r>
              <a:rPr lang="en-US" sz="2000" b="0" u="none" strike="noStrike" kern="1200" baseline="0" dirty="0">
                <a:solidFill>
                  <a:schemeClr val="tx1"/>
                </a:solidFill>
                <a:latin typeface="Times New Roman" panose="02020603050405020304" pitchFamily="18" charset="0"/>
                <a:cs typeface="Times New Roman" panose="02020603050405020304" pitchFamily="18" charset="0"/>
              </a:rPr>
              <a:t>depreciation, taxes, and the opportunity cost of capital. This cost varies with the time period inventory is held in stock.</a:t>
            </a:r>
          </a:p>
        </p:txBody>
      </p:sp>
      <p:pic>
        <p:nvPicPr>
          <p:cNvPr id="11" name="Picture 10">
            <a:extLst>
              <a:ext uri="{FF2B5EF4-FFF2-40B4-BE49-F238E27FC236}">
                <a16:creationId xmlns:a16="http://schemas.microsoft.com/office/drawing/2014/main" id="{EB2E3AE4-3512-8FD4-5704-2109718CDE0D}"/>
              </a:ext>
            </a:extLst>
          </p:cNvPr>
          <p:cNvPicPr>
            <a:picLocks noChangeAspect="1"/>
          </p:cNvPicPr>
          <p:nvPr/>
        </p:nvPicPr>
        <p:blipFill>
          <a:blip r:embed="rId2"/>
          <a:stretch>
            <a:fillRect/>
          </a:stretch>
        </p:blipFill>
        <p:spPr>
          <a:xfrm>
            <a:off x="6411837" y="1142971"/>
            <a:ext cx="5173969" cy="2116423"/>
          </a:xfrm>
          <a:prstGeom prst="rect">
            <a:avLst/>
          </a:prstGeom>
        </p:spPr>
      </p:pic>
    </p:spTree>
    <p:extLst>
      <p:ext uri="{BB962C8B-B14F-4D97-AF65-F5344CB8AC3E}">
        <p14:creationId xmlns:p14="http://schemas.microsoft.com/office/powerpoint/2010/main" val="4190958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83956-60D0-288C-499B-3B1378D396B6}"/>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253C5C9C-54F2-763D-8140-5D32FDE496D4}"/>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rgbClr val="FFFF00"/>
                </a:solidFill>
              </a:rPr>
              <a:t>INVENTORY COSTS</a:t>
            </a:r>
          </a:p>
        </p:txBody>
      </p:sp>
      <p:sp>
        <p:nvSpPr>
          <p:cNvPr id="2" name="Rectangle 1">
            <a:extLst>
              <a:ext uri="{FF2B5EF4-FFF2-40B4-BE49-F238E27FC236}">
                <a16:creationId xmlns:a16="http://schemas.microsoft.com/office/drawing/2014/main" id="{B89BF71D-2664-4BE0-32DC-972C2FAD42B4}"/>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989FC3EF-372F-A14B-AE9F-502F6F09D8B5}"/>
              </a:ext>
            </a:extLst>
          </p:cNvPr>
          <p:cNvSpPr txBox="1"/>
          <p:nvPr/>
        </p:nvSpPr>
        <p:spPr>
          <a:xfrm>
            <a:off x="472966" y="945932"/>
            <a:ext cx="4777460" cy="5262979"/>
          </a:xfrm>
          <a:prstGeom prst="rect">
            <a:avLst/>
          </a:prstGeom>
          <a:solidFill>
            <a:srgbClr val="FFFFCC"/>
          </a:solidFill>
        </p:spPr>
        <p:txBody>
          <a:bodyPr wrap="square">
            <a:spAutoFit/>
          </a:bodyPr>
          <a:lstStyle/>
          <a:p>
            <a:pPr marL="633413" indent="-457200" algn="just">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Inventory </a:t>
            </a:r>
            <a:r>
              <a:rPr lang="en-US" sz="2400" dirty="0">
                <a:latin typeface="Times New Roman" panose="02020603050405020304" pitchFamily="18" charset="0"/>
                <a:cs typeface="Times New Roman" panose="02020603050405020304" pitchFamily="18" charset="0"/>
              </a:rPr>
              <a:t>holding cost increases with the order quantity, ‘Q’. </a:t>
            </a:r>
          </a:p>
          <a:p>
            <a:pPr marL="633413"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Higher order quantities mean holding more inventory.</a:t>
            </a:r>
          </a:p>
          <a:p>
            <a:pPr marL="1090613" lvl="1" indent="-457200" algn="just">
              <a:buFont typeface="Wingdings" panose="05000000000000000000" pitchFamily="2" charset="2"/>
              <a:buChar char="§"/>
            </a:pPr>
            <a:r>
              <a:rPr lang="en-US" sz="2400" b="1" dirty="0">
                <a:solidFill>
                  <a:srgbClr val="0000FF"/>
                </a:solidFill>
                <a:latin typeface="Times New Roman" panose="02020603050405020304" pitchFamily="18" charset="0"/>
                <a:cs typeface="Times New Roman" panose="02020603050405020304" pitchFamily="18" charset="0"/>
              </a:rPr>
              <a:t>Holding more inventory means </a:t>
            </a:r>
            <a:r>
              <a:rPr lang="en-US" sz="2400" b="1" dirty="0">
                <a:solidFill>
                  <a:srgbClr val="0000FF"/>
                </a:solidFill>
                <a:highlight>
                  <a:srgbClr val="FFFF00"/>
                </a:highlight>
                <a:latin typeface="Times New Roman" panose="02020603050405020304" pitchFamily="18" charset="0"/>
                <a:cs typeface="Times New Roman" panose="02020603050405020304" pitchFamily="18" charset="0"/>
              </a:rPr>
              <a:t>ordering less frequently</a:t>
            </a:r>
            <a:r>
              <a:rPr lang="en-US" sz="2400" b="1" dirty="0">
                <a:solidFill>
                  <a:srgbClr val="0000FF"/>
                </a:solidFill>
                <a:latin typeface="Times New Roman" panose="02020603050405020304" pitchFamily="18" charset="0"/>
                <a:cs typeface="Times New Roman" panose="02020603050405020304" pitchFamily="18" charset="0"/>
              </a:rPr>
              <a:t>, so ordering cost decreases. </a:t>
            </a:r>
          </a:p>
          <a:p>
            <a:pPr marL="633413"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 smaller order quantity results in a lower holding cost.</a:t>
            </a:r>
          </a:p>
          <a:p>
            <a:pPr marL="1090613" lvl="1" indent="-457200" algn="just">
              <a:buFont typeface="Wingdings" panose="05000000000000000000" pitchFamily="2" charset="2"/>
              <a:buChar char="§"/>
            </a:pPr>
            <a:r>
              <a:rPr lang="en-US" sz="2400" b="1" dirty="0">
                <a:solidFill>
                  <a:srgbClr val="0000FF"/>
                </a:solidFill>
                <a:latin typeface="Times New Roman" panose="02020603050405020304" pitchFamily="18" charset="0"/>
                <a:cs typeface="Times New Roman" panose="02020603050405020304" pitchFamily="18" charset="0"/>
              </a:rPr>
              <a:t>Holding less inventory means ordering more frequently, so ordering cost increases.</a:t>
            </a:r>
          </a:p>
        </p:txBody>
      </p:sp>
      <p:pic>
        <p:nvPicPr>
          <p:cNvPr id="12" name="Picture 11">
            <a:extLst>
              <a:ext uri="{FF2B5EF4-FFF2-40B4-BE49-F238E27FC236}">
                <a16:creationId xmlns:a16="http://schemas.microsoft.com/office/drawing/2014/main" id="{204BE900-130E-3B5E-FDCD-72608A05E527}"/>
              </a:ext>
            </a:extLst>
          </p:cNvPr>
          <p:cNvPicPr>
            <a:picLocks noChangeAspect="1"/>
          </p:cNvPicPr>
          <p:nvPr/>
        </p:nvPicPr>
        <p:blipFill>
          <a:blip r:embed="rId2"/>
          <a:stretch>
            <a:fillRect/>
          </a:stretch>
        </p:blipFill>
        <p:spPr>
          <a:xfrm>
            <a:off x="5487004" y="1693593"/>
            <a:ext cx="6468417" cy="3767655"/>
          </a:xfrm>
          <a:prstGeom prst="rect">
            <a:avLst/>
          </a:prstGeom>
        </p:spPr>
      </p:pic>
    </p:spTree>
    <p:extLst>
      <p:ext uri="{BB962C8B-B14F-4D97-AF65-F5344CB8AC3E}">
        <p14:creationId xmlns:p14="http://schemas.microsoft.com/office/powerpoint/2010/main" val="1058986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34A06-7538-48F0-3036-E791DB893028}"/>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3FFBE20A-0C39-8342-2A2B-E40042C44961}"/>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rgbClr val="FFFF00"/>
                </a:solidFill>
              </a:rPr>
              <a:t>INVENTORY SYSTEMS </a:t>
            </a:r>
          </a:p>
        </p:txBody>
      </p:sp>
      <p:sp>
        <p:nvSpPr>
          <p:cNvPr id="2" name="Rectangle 1">
            <a:extLst>
              <a:ext uri="{FF2B5EF4-FFF2-40B4-BE49-F238E27FC236}">
                <a16:creationId xmlns:a16="http://schemas.microsoft.com/office/drawing/2014/main" id="{92EE6BE8-3587-5138-AAC7-F2F0BEF24B56}"/>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01DDE8A3-2B38-D712-237F-FBED0D0B70C4}"/>
              </a:ext>
            </a:extLst>
          </p:cNvPr>
          <p:cNvSpPr/>
          <p:nvPr/>
        </p:nvSpPr>
        <p:spPr>
          <a:xfrm>
            <a:off x="1206909" y="2042652"/>
            <a:ext cx="9778181" cy="2426110"/>
          </a:xfrm>
          <a:prstGeom prst="ellipse">
            <a:avLst/>
          </a:prstGeom>
          <a:solidFill>
            <a:schemeClr val="accent4">
              <a:lumMod val="20000"/>
              <a:lumOff val="80000"/>
            </a:schemeClr>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u="sng" dirty="0">
                <a:solidFill>
                  <a:srgbClr val="FF0000"/>
                </a:solidFill>
              </a:rPr>
              <a:t>ANSWER TWO BASIC QUESTIONS</a:t>
            </a:r>
          </a:p>
          <a:p>
            <a:pPr marL="342900" indent="-342900" algn="ctr">
              <a:buFont typeface="Wingdings" panose="05000000000000000000" pitchFamily="2" charset="2"/>
              <a:buChar char="§"/>
            </a:pPr>
            <a:r>
              <a:rPr lang="en-IN" sz="3600" dirty="0">
                <a:solidFill>
                  <a:schemeClr val="tx1"/>
                </a:solidFill>
              </a:rPr>
              <a:t>WHEN TO ORDER?</a:t>
            </a:r>
          </a:p>
          <a:p>
            <a:pPr marL="342900" indent="-342900" algn="ctr">
              <a:buFont typeface="Wingdings" panose="05000000000000000000" pitchFamily="2" charset="2"/>
              <a:buChar char="§"/>
            </a:pPr>
            <a:r>
              <a:rPr lang="en-IN" sz="3600" dirty="0">
                <a:solidFill>
                  <a:schemeClr val="tx1"/>
                </a:solidFill>
              </a:rPr>
              <a:t>HOW MUCH TO ORDER?</a:t>
            </a:r>
            <a:endParaRPr lang="en-IN" sz="2400" b="1" dirty="0">
              <a:solidFill>
                <a:schemeClr val="tx1"/>
              </a:solidFill>
            </a:endParaRPr>
          </a:p>
        </p:txBody>
      </p:sp>
    </p:spTree>
    <p:extLst>
      <p:ext uri="{BB962C8B-B14F-4D97-AF65-F5344CB8AC3E}">
        <p14:creationId xmlns:p14="http://schemas.microsoft.com/office/powerpoint/2010/main" val="2629903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79A72-B19A-303F-677F-7F3597BE8174}"/>
            </a:ext>
          </a:extLst>
        </p:cNvPr>
        <p:cNvGrpSpPr/>
        <p:nvPr/>
      </p:nvGrpSpPr>
      <p:grpSpPr>
        <a:xfrm>
          <a:off x="0" y="0"/>
          <a:ext cx="0" cy="0"/>
          <a:chOff x="0" y="0"/>
          <a:chExt cx="0" cy="0"/>
        </a:xfrm>
      </p:grpSpPr>
      <p:sp>
        <p:nvSpPr>
          <p:cNvPr id="40" name="Rectangle 39">
            <a:extLst>
              <a:ext uri="{FF2B5EF4-FFF2-40B4-BE49-F238E27FC236}">
                <a16:creationId xmlns:a16="http://schemas.microsoft.com/office/drawing/2014/main" id="{66BE60E8-D7DE-6774-054B-CDD546BF1037}"/>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solidFill>
                  <a:srgbClr val="FFFF00"/>
                </a:solidFill>
              </a:rPr>
              <a:t>INVENTORY SYSTEMS </a:t>
            </a:r>
          </a:p>
        </p:txBody>
      </p:sp>
      <p:sp>
        <p:nvSpPr>
          <p:cNvPr id="2" name="Rectangle 1">
            <a:extLst>
              <a:ext uri="{FF2B5EF4-FFF2-40B4-BE49-F238E27FC236}">
                <a16:creationId xmlns:a16="http://schemas.microsoft.com/office/drawing/2014/main" id="{0E53B3E9-D4AF-FBCC-1829-F6B8B94C64BC}"/>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3" name="Content Placeholder 3">
            <a:extLst>
              <a:ext uri="{FF2B5EF4-FFF2-40B4-BE49-F238E27FC236}">
                <a16:creationId xmlns:a16="http://schemas.microsoft.com/office/drawing/2014/main" id="{324C417C-00A0-236B-CBEA-A3FC0E26E119}"/>
              </a:ext>
            </a:extLst>
          </p:cNvPr>
          <p:cNvGraphicFramePr>
            <a:graphicFrameLocks/>
          </p:cNvGraphicFramePr>
          <p:nvPr/>
        </p:nvGraphicFramePr>
        <p:xfrm>
          <a:off x="472966" y="965421"/>
          <a:ext cx="10671645" cy="4876800"/>
        </p:xfrm>
        <a:graphic>
          <a:graphicData uri="http://schemas.openxmlformats.org/drawingml/2006/table">
            <a:tbl>
              <a:tblPr firstRow="1" bandRow="1">
                <a:tableStyleId>{ED083AE6-46FA-4A59-8FB0-9F97EB10719F}</a:tableStyleId>
              </a:tblPr>
              <a:tblGrid>
                <a:gridCol w="2314479">
                  <a:extLst>
                    <a:ext uri="{9D8B030D-6E8A-4147-A177-3AD203B41FA5}">
                      <a16:colId xmlns:a16="http://schemas.microsoft.com/office/drawing/2014/main" val="130871637"/>
                    </a:ext>
                  </a:extLst>
                </a:gridCol>
                <a:gridCol w="8357166">
                  <a:extLst>
                    <a:ext uri="{9D8B030D-6E8A-4147-A177-3AD203B41FA5}">
                      <a16:colId xmlns:a16="http://schemas.microsoft.com/office/drawing/2014/main" val="2925163398"/>
                    </a:ext>
                  </a:extLst>
                </a:gridCol>
              </a:tblGrid>
              <a:tr h="1596796">
                <a:tc>
                  <a:txBody>
                    <a:bodyPr/>
                    <a:lstStyle/>
                    <a:p>
                      <a:pPr algn="ctr"/>
                      <a:r>
                        <a:rPr lang="en-IN" sz="2200" dirty="0">
                          <a:solidFill>
                            <a:srgbClr val="0000FF"/>
                          </a:solidFill>
                          <a:latin typeface="Times New Roman" panose="02020603050405020304" pitchFamily="18" charset="0"/>
                          <a:cs typeface="Times New Roman" panose="02020603050405020304" pitchFamily="18" charset="0"/>
                        </a:rPr>
                        <a:t>FIXED-ORDER QUANTITY SYSTEM</a:t>
                      </a:r>
                    </a:p>
                  </a:txBody>
                  <a:tcPr anchor="ctr">
                    <a:solidFill>
                      <a:srgbClr val="FFFFCC"/>
                    </a:solidFill>
                  </a:tcPr>
                </a:tc>
                <a:tc>
                  <a:txBody>
                    <a:bodyPr/>
                    <a:lstStyle/>
                    <a:p>
                      <a:pPr algn="just"/>
                      <a:r>
                        <a:rPr lang="en-US" sz="2200" b="0" dirty="0">
                          <a:solidFill>
                            <a:schemeClr val="tx1"/>
                          </a:solidFill>
                          <a:latin typeface="Times New Roman" panose="02020603050405020304" pitchFamily="18" charset="0"/>
                          <a:cs typeface="Times New Roman" panose="02020603050405020304" pitchFamily="18" charset="0"/>
                        </a:rPr>
                        <a:t>An </a:t>
                      </a:r>
                      <a:r>
                        <a:rPr lang="en-US" sz="2200" b="1" dirty="0">
                          <a:solidFill>
                            <a:srgbClr val="FF0000"/>
                          </a:solidFill>
                          <a:highlight>
                            <a:srgbClr val="00FFFF"/>
                          </a:highlight>
                          <a:latin typeface="Times New Roman" panose="02020603050405020304" pitchFamily="18" charset="0"/>
                          <a:cs typeface="Times New Roman" panose="02020603050405020304" pitchFamily="18" charset="0"/>
                        </a:rPr>
                        <a:t>inventory management method where a specific, pre-determined amount of stock is ordered automatically </a:t>
                      </a:r>
                      <a:r>
                        <a:rPr lang="en-US" sz="2200" b="0" dirty="0">
                          <a:solidFill>
                            <a:schemeClr val="tx1"/>
                          </a:solidFill>
                          <a:latin typeface="Times New Roman" panose="02020603050405020304" pitchFamily="18" charset="0"/>
                          <a:cs typeface="Times New Roman" panose="02020603050405020304" pitchFamily="18" charset="0"/>
                        </a:rPr>
                        <a:t>whenever inventory levels drop to a designated reorder point</a:t>
                      </a:r>
                      <a:r>
                        <a:rPr lang="en-US" sz="2200" b="0" kern="1200" dirty="0">
                          <a:solidFill>
                            <a:schemeClr val="tx1"/>
                          </a:solidFill>
                          <a:effectLst/>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
                      </a:pPr>
                      <a:r>
                        <a:rPr lang="en-US" sz="2200" b="0" kern="1200" dirty="0">
                          <a:solidFill>
                            <a:schemeClr val="tx1"/>
                          </a:solidFill>
                          <a:latin typeface="Times New Roman" panose="02020603050405020304" pitchFamily="18" charset="0"/>
                          <a:ea typeface="+mn-ea"/>
                          <a:cs typeface="Times New Roman" panose="02020603050405020304" pitchFamily="18" charset="0"/>
                        </a:rPr>
                        <a:t>Hotel chain has a policy is that it always orders 2,000 soaps, for which it gets a nice quantity discount, and the order is made when the number of soaps </a:t>
                      </a:r>
                      <a:r>
                        <a:rPr lang="en-IN" sz="2200" b="0" kern="1200" dirty="0">
                          <a:solidFill>
                            <a:schemeClr val="tx1"/>
                          </a:solidFill>
                          <a:latin typeface="Times New Roman" panose="02020603050405020304" pitchFamily="18" charset="0"/>
                          <a:ea typeface="+mn-ea"/>
                          <a:cs typeface="Times New Roman" panose="02020603050405020304" pitchFamily="18" charset="0"/>
                        </a:rPr>
                        <a:t>drops to 300.</a:t>
                      </a:r>
                    </a:p>
                  </a:txBody>
                  <a:tcPr>
                    <a:solidFill>
                      <a:srgbClr val="FFFFCC"/>
                    </a:solidFill>
                  </a:tcPr>
                </a:tc>
                <a:extLst>
                  <a:ext uri="{0D108BD9-81ED-4DB2-BD59-A6C34878D82A}">
                    <a16:rowId xmlns:a16="http://schemas.microsoft.com/office/drawing/2014/main" val="954419366"/>
                  </a:ext>
                </a:extLst>
              </a:tr>
              <a:tr h="2481731">
                <a:tc>
                  <a:txBody>
                    <a:bodyPr/>
                    <a:lstStyle/>
                    <a:p>
                      <a:pPr algn="ctr"/>
                      <a:r>
                        <a:rPr lang="en-IN" sz="2200" b="1" u="none" strike="noStrike" kern="1200" baseline="0" dirty="0">
                          <a:solidFill>
                            <a:srgbClr val="0000FF"/>
                          </a:solidFill>
                          <a:latin typeface="Times New Roman" panose="02020603050405020304" pitchFamily="18" charset="0"/>
                          <a:cs typeface="Times New Roman" panose="02020603050405020304" pitchFamily="18" charset="0"/>
                        </a:rPr>
                        <a:t>FIXED-TIME PERIOD SYSTEM</a:t>
                      </a:r>
                      <a:endParaRPr lang="en-IN" sz="2200" b="1" dirty="0">
                        <a:solidFill>
                          <a:srgbClr val="0000FF"/>
                        </a:solidFill>
                        <a:latin typeface="Times New Roman" panose="02020603050405020304" pitchFamily="18" charset="0"/>
                        <a:cs typeface="Times New Roman" panose="02020603050405020304" pitchFamily="18" charset="0"/>
                      </a:endParaRPr>
                    </a:p>
                  </a:txBody>
                  <a:tcPr anchor="ctr">
                    <a:solidFill>
                      <a:srgbClr val="FFFFCC"/>
                    </a:solidFill>
                  </a:tcPr>
                </a:tc>
                <a:tc>
                  <a:txBody>
                    <a:bodyPr/>
                    <a:lstStyle/>
                    <a:p>
                      <a:pPr algn="just"/>
                      <a:r>
                        <a:rPr lang="en-US" sz="2200" b="0" kern="1200" dirty="0">
                          <a:solidFill>
                            <a:schemeClr val="tx1"/>
                          </a:solidFill>
                          <a:effectLst/>
                          <a:latin typeface="Times New Roman" panose="02020603050405020304" pitchFamily="18" charset="0"/>
                          <a:cs typeface="Times New Roman" panose="02020603050405020304" pitchFamily="18" charset="0"/>
                        </a:rPr>
                        <a:t>An </a:t>
                      </a:r>
                      <a:r>
                        <a:rPr lang="en-US" sz="2200" b="1" kern="1200" dirty="0">
                          <a:solidFill>
                            <a:srgbClr val="FF0000"/>
                          </a:solidFill>
                          <a:effectLst/>
                          <a:highlight>
                            <a:srgbClr val="00FFFF"/>
                          </a:highlight>
                          <a:latin typeface="Times New Roman" panose="02020603050405020304" pitchFamily="18" charset="0"/>
                          <a:cs typeface="Times New Roman" panose="02020603050405020304" pitchFamily="18" charset="0"/>
                        </a:rPr>
                        <a:t>inventory management method wh</a:t>
                      </a:r>
                      <a:r>
                        <a:rPr lang="en-US" sz="2200" b="1" kern="1200" dirty="0">
                          <a:solidFill>
                            <a:srgbClr val="FF0000"/>
                          </a:solidFill>
                          <a:effectLst/>
                          <a:highlight>
                            <a:srgbClr val="00FFFF"/>
                          </a:highlight>
                          <a:latin typeface="Times New Roman" panose="02020603050405020304" pitchFamily="18" charset="0"/>
                          <a:ea typeface="+mn-ea"/>
                          <a:cs typeface="Times New Roman" panose="02020603050405020304" pitchFamily="18" charset="0"/>
                        </a:rPr>
                        <a:t>ere inventory levels are checked in fixed time periods, ‘T’, </a:t>
                      </a:r>
                      <a:r>
                        <a:rPr lang="en-US" sz="2200" b="0" kern="1200" dirty="0">
                          <a:solidFill>
                            <a:schemeClr val="tx1"/>
                          </a:solidFill>
                          <a:effectLst/>
                          <a:latin typeface="Times New Roman" panose="02020603050405020304" pitchFamily="18" charset="0"/>
                          <a:ea typeface="+mn-ea"/>
                          <a:cs typeface="Times New Roman" panose="02020603050405020304" pitchFamily="18" charset="0"/>
                        </a:rPr>
                        <a:t>and the quantity that is ordered varies.  The system sets a target inventory level, ‘R’, to be maintained. Inventory is checked every T intervals, say every week or every two weeks, and an order is placed to restore the inventory level back to R. Based on  the inventory level at time period T, the amount of inventory that needs to be ordered will be some quantity ‘Q’ that varies from period to period.</a:t>
                      </a:r>
                      <a:endParaRPr lang="en-IN" sz="2200" b="0" kern="1200" dirty="0">
                        <a:solidFill>
                          <a:schemeClr val="tx1"/>
                        </a:solidFill>
                        <a:effectLst/>
                        <a:latin typeface="Times New Roman" panose="02020603050405020304" pitchFamily="18" charset="0"/>
                        <a:ea typeface="+mn-ea"/>
                        <a:cs typeface="Times New Roman" panose="02020603050405020304" pitchFamily="18" charset="0"/>
                      </a:endParaRPr>
                    </a:p>
                  </a:txBody>
                  <a:tcPr>
                    <a:solidFill>
                      <a:srgbClr val="FFFFCC"/>
                    </a:solidFill>
                  </a:tcPr>
                </a:tc>
                <a:extLst>
                  <a:ext uri="{0D108BD9-81ED-4DB2-BD59-A6C34878D82A}">
                    <a16:rowId xmlns:a16="http://schemas.microsoft.com/office/drawing/2014/main" val="959779634"/>
                  </a:ext>
                </a:extLst>
              </a:tr>
            </a:tbl>
          </a:graphicData>
        </a:graphic>
      </p:graphicFrame>
    </p:spTree>
    <p:extLst>
      <p:ext uri="{BB962C8B-B14F-4D97-AF65-F5344CB8AC3E}">
        <p14:creationId xmlns:p14="http://schemas.microsoft.com/office/powerpoint/2010/main" val="1295350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D8F4B-F098-A6C1-5FBC-1C6ED43D16A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CC33CF4-180E-F72B-86F6-5DD447F5275D}"/>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7A50E70F-0429-41CB-4FA1-C0CDCC600830}"/>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rgbClr val="FFFF00"/>
                </a:solidFill>
              </a:rPr>
              <a:t>   INVENTORY SYSTEMS: </a:t>
            </a:r>
          </a:p>
          <a:p>
            <a:pPr algn="ctr"/>
            <a:r>
              <a:rPr lang="en-IN" sz="3200" b="1" dirty="0">
                <a:solidFill>
                  <a:srgbClr val="FFFF00"/>
                </a:solidFill>
              </a:rPr>
              <a:t>(</a:t>
            </a:r>
            <a:r>
              <a:rPr lang="en-IN" sz="3200" b="1" dirty="0">
                <a:solidFill>
                  <a:schemeClr val="bg1"/>
                </a:solidFill>
              </a:rPr>
              <a:t>FIXED ORDER QUANTITY SYSTEM</a:t>
            </a:r>
            <a:r>
              <a:rPr lang="en-IN" sz="3200" b="1" dirty="0">
                <a:solidFill>
                  <a:srgbClr val="FFFF00"/>
                </a:solidFill>
              </a:rPr>
              <a:t>) </a:t>
            </a:r>
          </a:p>
        </p:txBody>
      </p:sp>
      <p:sp>
        <p:nvSpPr>
          <p:cNvPr id="5" name="TextBox 4">
            <a:extLst>
              <a:ext uri="{FF2B5EF4-FFF2-40B4-BE49-F238E27FC236}">
                <a16:creationId xmlns:a16="http://schemas.microsoft.com/office/drawing/2014/main" id="{925954CD-1DDD-2EFA-F961-67269EF652AE}"/>
              </a:ext>
            </a:extLst>
          </p:cNvPr>
          <p:cNvSpPr txBox="1"/>
          <p:nvPr/>
        </p:nvSpPr>
        <p:spPr>
          <a:xfrm>
            <a:off x="517211" y="945932"/>
            <a:ext cx="4040040" cy="5170646"/>
          </a:xfrm>
          <a:prstGeom prst="rect">
            <a:avLst/>
          </a:prstGeom>
          <a:solidFill>
            <a:srgbClr val="FFFFCC"/>
          </a:solidFill>
          <a:ln>
            <a:noFill/>
          </a:ln>
        </p:spPr>
        <p:txBody>
          <a:bodyPr wrap="square">
            <a:spAutoFit/>
          </a:bodyPr>
          <a:lstStyle/>
          <a:p>
            <a:pPr algn="just"/>
            <a:r>
              <a:rPr lang="en-US" sz="2200" b="1" dirty="0">
                <a:highlight>
                  <a:srgbClr val="00FFFF"/>
                </a:highlight>
                <a:latin typeface="Times New Roman" panose="02020603050405020304" pitchFamily="18" charset="0"/>
                <a:cs typeface="Times New Roman" panose="02020603050405020304" pitchFamily="18" charset="0"/>
              </a:rPr>
              <a:t>Q</a:t>
            </a:r>
            <a:r>
              <a:rPr lang="en-US" sz="2200" b="1" i="0" u="none" strike="noStrike" baseline="0" dirty="0">
                <a:highlight>
                  <a:srgbClr val="00FFFF"/>
                </a:highlight>
                <a:latin typeface="Times New Roman" panose="02020603050405020304" pitchFamily="18" charset="0"/>
                <a:cs typeface="Times New Roman" panose="02020603050405020304" pitchFamily="18" charset="0"/>
              </a:rPr>
              <a:t>uantity that is ordered </a:t>
            </a:r>
            <a:r>
              <a:rPr lang="en-US" sz="2200" b="0" i="0" u="none" strike="noStrike" baseline="0" dirty="0">
                <a:latin typeface="Times New Roman" panose="02020603050405020304" pitchFamily="18" charset="0"/>
                <a:cs typeface="Times New Roman" panose="02020603050405020304" pitchFamily="18" charset="0"/>
              </a:rPr>
              <a:t>with this system </a:t>
            </a:r>
            <a:r>
              <a:rPr lang="en-US" sz="2200" b="1" i="0" u="none" strike="noStrike" baseline="0" dirty="0">
                <a:highlight>
                  <a:srgbClr val="00FFFF"/>
                </a:highlight>
                <a:latin typeface="Times New Roman" panose="02020603050405020304" pitchFamily="18" charset="0"/>
                <a:cs typeface="Times New Roman" panose="02020603050405020304" pitchFamily="18" charset="0"/>
              </a:rPr>
              <a:t>is constant or fixed</a:t>
            </a:r>
            <a:r>
              <a:rPr lang="en-US" sz="2200" b="0" i="0" u="none" strike="noStrike" baseline="0" dirty="0">
                <a:latin typeface="Times New Roman" panose="02020603050405020304" pitchFamily="18" charset="0"/>
                <a:cs typeface="Times New Roman" panose="02020603050405020304" pitchFamily="18" charset="0"/>
              </a:rPr>
              <a:t>, and is denoted by Q. </a:t>
            </a:r>
          </a:p>
          <a:p>
            <a:pPr algn="just"/>
            <a:r>
              <a:rPr lang="en-US" sz="2200" b="0" i="0" u="none" strike="noStrike" baseline="0" dirty="0">
                <a:latin typeface="Times New Roman" panose="02020603050405020304" pitchFamily="18" charset="0"/>
                <a:cs typeface="Times New Roman" panose="02020603050405020304" pitchFamily="18" charset="0"/>
              </a:rPr>
              <a:t>An order is placed when the inventory position drops to a predetermined level, noted as the </a:t>
            </a:r>
            <a:r>
              <a:rPr lang="en-US" sz="2200" b="1" i="0" u="sng" strike="noStrike" baseline="0" dirty="0">
                <a:solidFill>
                  <a:srgbClr val="FF0000"/>
                </a:solidFill>
                <a:latin typeface="Times New Roman" panose="02020603050405020304" pitchFamily="18" charset="0"/>
                <a:cs typeface="Times New Roman" panose="02020603050405020304" pitchFamily="18" charset="0"/>
              </a:rPr>
              <a:t>Reorder </a:t>
            </a:r>
            <a:r>
              <a:rPr lang="en-US" sz="2200" b="1" u="sng" dirty="0">
                <a:solidFill>
                  <a:srgbClr val="FF0000"/>
                </a:solidFill>
                <a:latin typeface="Times New Roman" panose="02020603050405020304" pitchFamily="18" charset="0"/>
                <a:cs typeface="Times New Roman" panose="02020603050405020304" pitchFamily="18" charset="0"/>
              </a:rPr>
              <a:t>P</a:t>
            </a:r>
            <a:r>
              <a:rPr lang="en-US" sz="2200" b="1" i="0" u="sng" strike="noStrike" baseline="0" dirty="0">
                <a:solidFill>
                  <a:srgbClr val="FF0000"/>
                </a:solidFill>
                <a:latin typeface="Times New Roman" panose="02020603050405020304" pitchFamily="18" charset="0"/>
                <a:cs typeface="Times New Roman" panose="02020603050405020304" pitchFamily="18" charset="0"/>
              </a:rPr>
              <a:t>oint (ROP).</a:t>
            </a:r>
          </a:p>
          <a:p>
            <a:pPr marL="630238" indent="-630238" algn="just">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T</a:t>
            </a:r>
            <a:r>
              <a:rPr lang="en-US" sz="2200" b="0" i="0" u="none" strike="noStrike" baseline="0" dirty="0">
                <a:latin typeface="Times New Roman" panose="02020603050405020304" pitchFamily="18" charset="0"/>
                <a:cs typeface="Times New Roman" panose="02020603050405020304" pitchFamily="18" charset="0"/>
              </a:rPr>
              <a:t>wo variables that define this system and answer the two basic questions </a:t>
            </a:r>
          </a:p>
          <a:p>
            <a:pPr marL="633413" lvl="1" indent="-368300" algn="just">
              <a:buFont typeface="+mj-lt"/>
              <a:buAutoNum type="romanUcPeriod"/>
            </a:pPr>
            <a:r>
              <a:rPr lang="en-US" sz="2200" b="1" dirty="0">
                <a:highlight>
                  <a:srgbClr val="FFFF00"/>
                </a:highlight>
                <a:latin typeface="Times New Roman" panose="02020603050405020304" pitchFamily="18" charset="0"/>
                <a:cs typeface="Times New Roman" panose="02020603050405020304" pitchFamily="18" charset="0"/>
              </a:rPr>
              <a:t>W</a:t>
            </a:r>
            <a:r>
              <a:rPr lang="en-US" sz="2200" b="1" i="0" u="none" strike="noStrike" baseline="0" dirty="0">
                <a:highlight>
                  <a:srgbClr val="FFFF00"/>
                </a:highlight>
                <a:latin typeface="Times New Roman" panose="02020603050405020304" pitchFamily="18" charset="0"/>
                <a:cs typeface="Times New Roman" panose="02020603050405020304" pitchFamily="18" charset="0"/>
              </a:rPr>
              <a:t>hen to place an order</a:t>
            </a:r>
            <a:r>
              <a:rPr lang="en-US" sz="2200" b="0" i="0" u="none" strike="noStrike" baseline="0" dirty="0">
                <a:latin typeface="Times New Roman" panose="02020603050405020304" pitchFamily="18" charset="0"/>
                <a:cs typeface="Times New Roman" panose="02020603050405020304" pitchFamily="18" charset="0"/>
              </a:rPr>
              <a:t>: when inventory reaches the reorder point ROP. </a:t>
            </a:r>
          </a:p>
          <a:p>
            <a:pPr marL="633413" lvl="1" indent="-368300" algn="just">
              <a:buFont typeface="+mj-lt"/>
              <a:buAutoNum type="romanUcPeriod"/>
            </a:pPr>
            <a:r>
              <a:rPr lang="en-US" sz="2200" b="1" dirty="0">
                <a:highlight>
                  <a:srgbClr val="FFFF00"/>
                </a:highlight>
                <a:latin typeface="Times New Roman" panose="02020603050405020304" pitchFamily="18" charset="0"/>
                <a:cs typeface="Times New Roman" panose="02020603050405020304" pitchFamily="18" charset="0"/>
              </a:rPr>
              <a:t>H</a:t>
            </a:r>
            <a:r>
              <a:rPr lang="en-US" sz="2200" b="1" i="0" u="none" strike="noStrike" baseline="0" dirty="0">
                <a:highlight>
                  <a:srgbClr val="FFFF00"/>
                </a:highlight>
                <a:latin typeface="Times New Roman" panose="02020603050405020304" pitchFamily="18" charset="0"/>
                <a:cs typeface="Times New Roman" panose="02020603050405020304" pitchFamily="18" charset="0"/>
              </a:rPr>
              <a:t>ow much to order</a:t>
            </a:r>
            <a:r>
              <a:rPr lang="en-US" sz="2200" b="0" i="0" u="none" strike="noStrike" baseline="0" dirty="0">
                <a:latin typeface="Times New Roman" panose="02020603050405020304" pitchFamily="18" charset="0"/>
                <a:cs typeface="Times New Roman" panose="02020603050405020304" pitchFamily="18" charset="0"/>
              </a:rPr>
              <a:t>: the </a:t>
            </a:r>
            <a:r>
              <a:rPr lang="en-IN" sz="2200" b="0" i="0" u="none" strike="noStrike" baseline="0" dirty="0">
                <a:latin typeface="Times New Roman" panose="02020603050405020304" pitchFamily="18" charset="0"/>
                <a:cs typeface="Times New Roman" panose="02020603050405020304" pitchFamily="18" charset="0"/>
              </a:rPr>
              <a:t>quantity Q</a:t>
            </a:r>
            <a:endParaRPr lang="en-IN"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B843F8D-09A6-09BE-80A0-A67B023F7003}"/>
              </a:ext>
            </a:extLst>
          </p:cNvPr>
          <p:cNvPicPr>
            <a:picLocks noChangeAspect="1"/>
          </p:cNvPicPr>
          <p:nvPr/>
        </p:nvPicPr>
        <p:blipFill>
          <a:blip r:embed="rId2">
            <a:duotone>
              <a:prstClr val="black"/>
              <a:schemeClr val="accent6">
                <a:tint val="45000"/>
                <a:satMod val="400000"/>
              </a:schemeClr>
            </a:duotone>
          </a:blip>
          <a:stretch>
            <a:fillRect/>
          </a:stretch>
        </p:blipFill>
        <p:spPr>
          <a:xfrm>
            <a:off x="5348027" y="945932"/>
            <a:ext cx="5963985" cy="2723823"/>
          </a:xfrm>
          <a:prstGeom prst="rect">
            <a:avLst/>
          </a:prstGeom>
        </p:spPr>
      </p:pic>
      <p:sp>
        <p:nvSpPr>
          <p:cNvPr id="7" name="TextBox 6">
            <a:extLst>
              <a:ext uri="{FF2B5EF4-FFF2-40B4-BE49-F238E27FC236}">
                <a16:creationId xmlns:a16="http://schemas.microsoft.com/office/drawing/2014/main" id="{77C49057-0841-7159-8A4F-9ABE4FF3E4EB}"/>
              </a:ext>
            </a:extLst>
          </p:cNvPr>
          <p:cNvSpPr txBox="1"/>
          <p:nvPr/>
        </p:nvSpPr>
        <p:spPr>
          <a:xfrm>
            <a:off x="4663967" y="3677348"/>
            <a:ext cx="7178988" cy="2862322"/>
          </a:xfrm>
          <a:prstGeom prst="rect">
            <a:avLst/>
          </a:prstGeom>
          <a:solidFill>
            <a:srgbClr val="66FFFF"/>
          </a:solidFill>
        </p:spPr>
        <p:txBody>
          <a:bodyPr wrap="square">
            <a:spAutoFit/>
          </a:bodyPr>
          <a:lstStyle/>
          <a:p>
            <a:pPr marL="176213" indent="-176213"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a:t>
            </a:r>
            <a:r>
              <a:rPr lang="en-US" sz="2000" b="0" i="0" u="none" strike="noStrike" baseline="0" dirty="0">
                <a:latin typeface="Times New Roman" panose="02020603050405020304" pitchFamily="18" charset="0"/>
                <a:cs typeface="Times New Roman" panose="02020603050405020304" pitchFamily="18" charset="0"/>
              </a:rPr>
              <a:t>he system assumes a </a:t>
            </a:r>
            <a:r>
              <a:rPr lang="en-US" sz="2000" b="1" i="0" u="none" strike="noStrike" baseline="0" dirty="0">
                <a:solidFill>
                  <a:srgbClr val="FF0000"/>
                </a:solidFill>
                <a:latin typeface="Times New Roman" panose="02020603050405020304" pitchFamily="18" charset="0"/>
                <a:cs typeface="Times New Roman" panose="02020603050405020304" pitchFamily="18" charset="0"/>
              </a:rPr>
              <a:t>constant demand rate </a:t>
            </a:r>
            <a:r>
              <a:rPr lang="en-US" sz="2000" b="0" i="0" u="none" strike="noStrike" baseline="0" dirty="0">
                <a:latin typeface="Times New Roman" panose="02020603050405020304" pitchFamily="18" charset="0"/>
                <a:cs typeface="Times New Roman" panose="02020603050405020304" pitchFamily="18" charset="0"/>
              </a:rPr>
              <a:t>of ‘</a:t>
            </a:r>
            <a:r>
              <a:rPr lang="en-US" sz="2000" b="1" i="0" u="none" strike="noStrike" baseline="0" dirty="0">
                <a:latin typeface="Times New Roman" panose="02020603050405020304" pitchFamily="18" charset="0"/>
                <a:cs typeface="Times New Roman" panose="02020603050405020304" pitchFamily="18" charset="0"/>
              </a:rPr>
              <a:t>d’</a:t>
            </a:r>
            <a:r>
              <a:rPr lang="en-US" sz="2000" b="0" i="0" u="none" strike="noStrike" baseline="0" dirty="0">
                <a:latin typeface="Times New Roman" panose="02020603050405020304" pitchFamily="18" charset="0"/>
                <a:cs typeface="Times New Roman" panose="02020603050405020304" pitchFamily="18" charset="0"/>
              </a:rPr>
              <a:t> by which the </a:t>
            </a:r>
            <a:r>
              <a:rPr lang="en-US" sz="2000" b="1" i="0" u="none" strike="noStrike" baseline="0" dirty="0">
                <a:latin typeface="Times New Roman" panose="02020603050405020304" pitchFamily="18" charset="0"/>
                <a:cs typeface="Times New Roman" panose="02020603050405020304" pitchFamily="18" charset="0"/>
              </a:rPr>
              <a:t>inventory position (IP)</a:t>
            </a:r>
            <a:r>
              <a:rPr lang="en-US" sz="2000" b="0" i="0" u="none" strike="noStrike" baseline="0" dirty="0">
                <a:latin typeface="Times New Roman" panose="02020603050405020304" pitchFamily="18" charset="0"/>
                <a:cs typeface="Times New Roman" panose="02020603050405020304" pitchFamily="18" charset="0"/>
              </a:rPr>
              <a:t> is reduced.</a:t>
            </a:r>
          </a:p>
          <a:p>
            <a:pPr marL="176213" indent="-176213"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 order is placed for quantity ‘Q’ when ‘IP’ reaches the reorder point (ROP).</a:t>
            </a:r>
          </a:p>
          <a:p>
            <a:pPr marL="176213" indent="-176213"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Inventory position is increased by Q when goods are received the inventory is replenished.</a:t>
            </a:r>
          </a:p>
          <a:p>
            <a:pPr marL="176213" indent="-176213"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Inventory cannot arrive the moment an order is placed, as there is a certain amount of Lead Time (L) during which we have to wait for the order.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290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842B8-6F41-912D-107D-3D8CD05FAC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50411A-C24F-169D-0581-C41692F55C78}"/>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026E262F-E7DB-7A6A-06B7-B13E0DA28F5D}"/>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t>   INVENTORY SYSTEMS: </a:t>
            </a:r>
          </a:p>
          <a:p>
            <a:pPr algn="ctr"/>
            <a:r>
              <a:rPr lang="en-IN" sz="3200" b="1" dirty="0">
                <a:solidFill>
                  <a:srgbClr val="FFFF00"/>
                </a:solidFill>
              </a:rPr>
              <a:t>(</a:t>
            </a:r>
            <a:r>
              <a:rPr lang="en-IN" sz="3200" b="1" dirty="0">
                <a:solidFill>
                  <a:schemeClr val="bg1"/>
                </a:solidFill>
              </a:rPr>
              <a:t>FIXED TIME-PERIOD SYSTEM </a:t>
            </a:r>
            <a:r>
              <a:rPr lang="en-IN" sz="3200" b="1" dirty="0">
                <a:solidFill>
                  <a:srgbClr val="FFFF00"/>
                </a:solidFill>
              </a:rPr>
              <a:t>/ </a:t>
            </a:r>
            <a:r>
              <a:rPr lang="en-IN" sz="3200" b="1" dirty="0">
                <a:solidFill>
                  <a:schemeClr val="bg1"/>
                </a:solidFill>
              </a:rPr>
              <a:t>PERIODIC REVIEW SYSTEM</a:t>
            </a:r>
            <a:r>
              <a:rPr lang="en-IN" sz="3200" b="1" dirty="0">
                <a:solidFill>
                  <a:srgbClr val="FFFF00"/>
                </a:solidFill>
              </a:rPr>
              <a:t>) </a:t>
            </a:r>
          </a:p>
        </p:txBody>
      </p:sp>
      <p:sp>
        <p:nvSpPr>
          <p:cNvPr id="5" name="TextBox 4">
            <a:extLst>
              <a:ext uri="{FF2B5EF4-FFF2-40B4-BE49-F238E27FC236}">
                <a16:creationId xmlns:a16="http://schemas.microsoft.com/office/drawing/2014/main" id="{AEBAEF9E-46E1-8DDE-AE8C-D842910AAC03}"/>
              </a:ext>
            </a:extLst>
          </p:cNvPr>
          <p:cNvSpPr txBox="1"/>
          <p:nvPr/>
        </p:nvSpPr>
        <p:spPr>
          <a:xfrm>
            <a:off x="517211" y="945932"/>
            <a:ext cx="4290762" cy="5678478"/>
          </a:xfrm>
          <a:prstGeom prst="rect">
            <a:avLst/>
          </a:prstGeom>
          <a:solidFill>
            <a:srgbClr val="FFFFCC"/>
          </a:solidFill>
          <a:ln>
            <a:noFill/>
          </a:ln>
        </p:spPr>
        <p:txBody>
          <a:bodyPr wrap="square">
            <a:spAutoFit/>
          </a:bodyPr>
          <a:lstStyle/>
          <a:p>
            <a:pPr marL="176213" indent="-176213" algn="just">
              <a:buFont typeface="Wingdings" panose="05000000000000000000" pitchFamily="2" charset="2"/>
              <a:buChar char="§"/>
            </a:pPr>
            <a:r>
              <a:rPr lang="en-US" sz="2100" b="1" dirty="0">
                <a:highlight>
                  <a:srgbClr val="00FFFF"/>
                </a:highlight>
                <a:latin typeface="Times New Roman" panose="02020603050405020304" pitchFamily="18" charset="0"/>
                <a:cs typeface="Times New Roman" panose="02020603050405020304" pitchFamily="18" charset="0"/>
              </a:rPr>
              <a:t>Inventory levels are checked at fixed time intervals (</a:t>
            </a:r>
            <a:r>
              <a:rPr lang="en-US" sz="2100" b="1" dirty="0">
                <a:solidFill>
                  <a:srgbClr val="FF0000"/>
                </a:solidFill>
                <a:highlight>
                  <a:srgbClr val="00FFFF"/>
                </a:highlight>
                <a:latin typeface="Times New Roman" panose="02020603050405020304" pitchFamily="18" charset="0"/>
                <a:cs typeface="Times New Roman" panose="02020603050405020304" pitchFamily="18" charset="0"/>
              </a:rPr>
              <a:t>T</a:t>
            </a:r>
            <a:r>
              <a:rPr lang="en-US" sz="2100" b="1" dirty="0">
                <a:highlight>
                  <a:srgbClr val="00FFFF"/>
                </a:highlight>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say every week or every two weeks, and the quantity ordered varies</a:t>
            </a:r>
            <a:r>
              <a:rPr lang="en-US" sz="2100" b="0" i="0" u="none" strike="noStrike" baseline="0" dirty="0">
                <a:latin typeface="Times New Roman" panose="02020603050405020304" pitchFamily="18" charset="0"/>
                <a:cs typeface="Times New Roman" panose="02020603050405020304" pitchFamily="18" charset="0"/>
              </a:rPr>
              <a:t>. </a:t>
            </a:r>
          </a:p>
          <a:p>
            <a:pPr marL="176213" indent="-176213" algn="just">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The system sets a target inventory level (</a:t>
            </a:r>
            <a:r>
              <a:rPr lang="en-US" sz="2100" b="1" dirty="0">
                <a:solidFill>
                  <a:srgbClr val="FF0000"/>
                </a:solidFill>
                <a:latin typeface="Times New Roman" panose="02020603050405020304" pitchFamily="18" charset="0"/>
                <a:cs typeface="Times New Roman" panose="02020603050405020304" pitchFamily="18" charset="0"/>
              </a:rPr>
              <a:t>R</a:t>
            </a:r>
            <a:r>
              <a:rPr lang="en-US" sz="2100" dirty="0">
                <a:latin typeface="Times New Roman" panose="02020603050405020304" pitchFamily="18" charset="0"/>
                <a:cs typeface="Times New Roman" panose="02020603050405020304" pitchFamily="18" charset="0"/>
              </a:rPr>
              <a:t>), to be maintained.</a:t>
            </a:r>
          </a:p>
          <a:p>
            <a:pPr marL="176213" indent="-176213" algn="just">
              <a:buFont typeface="Wingdings" panose="05000000000000000000" pitchFamily="2" charset="2"/>
              <a:buChar char="§"/>
            </a:pPr>
            <a:r>
              <a:rPr lang="en-US" sz="2100" b="1" dirty="0">
                <a:highlight>
                  <a:srgbClr val="00FFFF"/>
                </a:highlight>
                <a:latin typeface="Times New Roman" panose="02020603050405020304" pitchFamily="18" charset="0"/>
                <a:cs typeface="Times New Roman" panose="02020603050405020304" pitchFamily="18" charset="0"/>
              </a:rPr>
              <a:t>Inventory is checked every ‘</a:t>
            </a:r>
            <a:r>
              <a:rPr lang="en-US" sz="2100" b="1" dirty="0">
                <a:solidFill>
                  <a:srgbClr val="FF0000"/>
                </a:solidFill>
                <a:highlight>
                  <a:srgbClr val="00FFFF"/>
                </a:highlight>
                <a:latin typeface="Times New Roman" panose="02020603050405020304" pitchFamily="18" charset="0"/>
                <a:cs typeface="Times New Roman" panose="02020603050405020304" pitchFamily="18" charset="0"/>
              </a:rPr>
              <a:t>T</a:t>
            </a:r>
            <a:r>
              <a:rPr lang="en-US" sz="2100" b="1" dirty="0">
                <a:highlight>
                  <a:srgbClr val="00FFFF"/>
                </a:highlight>
                <a:latin typeface="Times New Roman" panose="02020603050405020304" pitchFamily="18" charset="0"/>
                <a:cs typeface="Times New Roman" panose="02020603050405020304" pitchFamily="18" charset="0"/>
              </a:rPr>
              <a:t>’ interval</a:t>
            </a:r>
            <a:r>
              <a:rPr lang="en-US" sz="2100" dirty="0">
                <a:latin typeface="Times New Roman" panose="02020603050405020304" pitchFamily="18" charset="0"/>
                <a:cs typeface="Times New Roman" panose="02020603050405020304" pitchFamily="18" charset="0"/>
              </a:rPr>
              <a:t>s, and an order is placed to restore the inventory level back to ‘</a:t>
            </a:r>
            <a:r>
              <a:rPr lang="en-US" sz="2100" b="1" dirty="0">
                <a:solidFill>
                  <a:srgbClr val="FF0000"/>
                </a:solidFill>
                <a:latin typeface="Times New Roman" panose="02020603050405020304" pitchFamily="18" charset="0"/>
                <a:cs typeface="Times New Roman" panose="02020603050405020304" pitchFamily="18" charset="0"/>
              </a:rPr>
              <a:t>R</a:t>
            </a:r>
            <a:r>
              <a:rPr lang="en-US" sz="2100" dirty="0">
                <a:latin typeface="Times New Roman" panose="02020603050405020304" pitchFamily="18" charset="0"/>
                <a:cs typeface="Times New Roman" panose="02020603050405020304" pitchFamily="18" charset="0"/>
              </a:rPr>
              <a:t>’. </a:t>
            </a:r>
          </a:p>
          <a:p>
            <a:pPr marL="176213" indent="-176213" algn="just">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This system answers the two basic questions of when to order (</a:t>
            </a:r>
            <a:r>
              <a:rPr lang="en-US" sz="2100" b="1" dirty="0">
                <a:solidFill>
                  <a:srgbClr val="FF0000"/>
                </a:solidFill>
                <a:latin typeface="Times New Roman" panose="02020603050405020304" pitchFamily="18" charset="0"/>
                <a:cs typeface="Times New Roman" panose="02020603050405020304" pitchFamily="18" charset="0"/>
              </a:rPr>
              <a:t>T</a:t>
            </a:r>
            <a:r>
              <a:rPr lang="en-US" sz="2100" dirty="0">
                <a:latin typeface="Times New Roman" panose="02020603050405020304" pitchFamily="18" charset="0"/>
                <a:cs typeface="Times New Roman" panose="02020603050405020304" pitchFamily="18" charset="0"/>
              </a:rPr>
              <a:t>) and how much to order (</a:t>
            </a:r>
            <a:r>
              <a:rPr lang="en-US" sz="2100" b="1" dirty="0">
                <a:solidFill>
                  <a:srgbClr val="FF0000"/>
                </a:solidFill>
                <a:latin typeface="Times New Roman" panose="02020603050405020304" pitchFamily="18" charset="0"/>
                <a:cs typeface="Times New Roman" panose="02020603050405020304" pitchFamily="18" charset="0"/>
              </a:rPr>
              <a:t>R</a:t>
            </a:r>
            <a:r>
              <a:rPr lang="en-US" sz="2100" dirty="0">
                <a:latin typeface="Times New Roman" panose="02020603050405020304" pitchFamily="18" charset="0"/>
                <a:cs typeface="Times New Roman" panose="02020603050405020304" pitchFamily="18" charset="0"/>
              </a:rPr>
              <a:t>).</a:t>
            </a:r>
          </a:p>
          <a:p>
            <a:pPr marL="176213" indent="-176213" algn="just">
              <a:buFont typeface="Wingdings" panose="05000000000000000000" pitchFamily="2" charset="2"/>
              <a:buChar char="§"/>
            </a:pPr>
            <a:r>
              <a:rPr lang="en-US" sz="2100" dirty="0">
                <a:latin typeface="Times New Roman" panose="02020603050405020304" pitchFamily="18" charset="0"/>
                <a:cs typeface="Times New Roman" panose="02020603050405020304" pitchFamily="18" charset="0"/>
              </a:rPr>
              <a:t>Thus. ‘</a:t>
            </a:r>
            <a:r>
              <a:rPr lang="en-US" sz="2400" b="1" dirty="0">
                <a:solidFill>
                  <a:srgbClr val="FF0000"/>
                </a:solidFill>
                <a:latin typeface="Times New Roman" panose="02020603050405020304" pitchFamily="18" charset="0"/>
                <a:cs typeface="Times New Roman" panose="02020603050405020304" pitchFamily="18" charset="0"/>
              </a:rPr>
              <a:t>Q – order quantity</a:t>
            </a:r>
            <a:r>
              <a:rPr lang="en-US" sz="2100" dirty="0">
                <a:latin typeface="Times New Roman" panose="02020603050405020304" pitchFamily="18" charset="0"/>
                <a:cs typeface="Times New Roman" panose="02020603050405020304" pitchFamily="18" charset="0"/>
              </a:rPr>
              <a:t>’ is the difference between the target inventory (</a:t>
            </a:r>
            <a:r>
              <a:rPr lang="en-US" sz="2400" b="1" dirty="0">
                <a:solidFill>
                  <a:srgbClr val="FF0000"/>
                </a:solidFill>
                <a:latin typeface="Times New Roman" panose="02020603050405020304" pitchFamily="18" charset="0"/>
                <a:cs typeface="Times New Roman" panose="02020603050405020304" pitchFamily="18" charset="0"/>
              </a:rPr>
              <a:t>R</a:t>
            </a:r>
            <a:r>
              <a:rPr lang="en-US" sz="2100" dirty="0">
                <a:latin typeface="Times New Roman" panose="02020603050405020304" pitchFamily="18" charset="0"/>
                <a:cs typeface="Times New Roman" panose="02020603050405020304" pitchFamily="18" charset="0"/>
              </a:rPr>
              <a:t>)  and the inventory </a:t>
            </a:r>
            <a:r>
              <a:rPr lang="en-IN" sz="2100" dirty="0">
                <a:latin typeface="Times New Roman" panose="02020603050405020304" pitchFamily="18" charset="0"/>
                <a:cs typeface="Times New Roman" panose="02020603050405020304" pitchFamily="18" charset="0"/>
              </a:rPr>
              <a:t>position (</a:t>
            </a:r>
            <a:r>
              <a:rPr lang="en-IN" sz="2400" b="1" dirty="0">
                <a:solidFill>
                  <a:srgbClr val="FF0000"/>
                </a:solidFill>
                <a:latin typeface="Times New Roman" panose="02020603050405020304" pitchFamily="18" charset="0"/>
                <a:cs typeface="Times New Roman" panose="02020603050405020304" pitchFamily="18" charset="0"/>
              </a:rPr>
              <a:t>IP</a:t>
            </a:r>
            <a:r>
              <a:rPr lang="en-IN" sz="2100" dirty="0">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4112B95F-1831-FAC5-135B-0B73F5AC9CAC}"/>
              </a:ext>
            </a:extLst>
          </p:cNvPr>
          <p:cNvSpPr txBox="1"/>
          <p:nvPr/>
        </p:nvSpPr>
        <p:spPr>
          <a:xfrm>
            <a:off x="4807973" y="3869076"/>
            <a:ext cx="7034981" cy="2616101"/>
          </a:xfrm>
          <a:prstGeom prst="rect">
            <a:avLst/>
          </a:prstGeom>
          <a:solidFill>
            <a:srgbClr val="66FFFF"/>
          </a:solidFill>
        </p:spPr>
        <p:txBody>
          <a:bodyPr wrap="square">
            <a:spAutoFit/>
          </a:bodyPr>
          <a:lstStyle/>
          <a:p>
            <a:pPr algn="just"/>
            <a:r>
              <a:rPr lang="en-IN" dirty="0">
                <a:latin typeface="Times New Roman" panose="02020603050405020304" pitchFamily="18" charset="0"/>
                <a:cs typeface="Times New Roman" panose="02020603050405020304" pitchFamily="18" charset="0"/>
              </a:rPr>
              <a:t>    			</a:t>
            </a:r>
            <a:r>
              <a:rPr lang="en-IN" sz="2000" b="1" dirty="0">
                <a:highlight>
                  <a:srgbClr val="FFFF00"/>
                </a:highlight>
                <a:latin typeface="Times New Roman" panose="02020603050405020304" pitchFamily="18" charset="0"/>
                <a:cs typeface="Times New Roman" panose="02020603050405020304" pitchFamily="18" charset="0"/>
              </a:rPr>
              <a:t>Q = R – IP</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hotel chain uses a fixed-time period model to check inventory levels every 02 weeks for its inventory of lavender bath soaps.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hotel has a target inventory level R = 5,000 soaps. </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after two weeks the company checks its inventory level and finds its inventory position IP =2,800 soaps, it would place an order for quantity:</a:t>
            </a:r>
          </a:p>
          <a:p>
            <a:pPr algn="just"/>
            <a:r>
              <a:rPr lang="en-US" sz="2000" dirty="0">
                <a:latin typeface="Times New Roman" panose="02020603050405020304" pitchFamily="18" charset="0"/>
                <a:cs typeface="Times New Roman" panose="02020603050405020304" pitchFamily="18" charset="0"/>
              </a:rPr>
              <a:t>	</a:t>
            </a:r>
            <a:r>
              <a:rPr lang="en-US" sz="2400" b="1" dirty="0">
                <a:highlight>
                  <a:srgbClr val="FFFF00"/>
                </a:highlight>
                <a:latin typeface="Times New Roman" panose="02020603050405020304" pitchFamily="18" charset="0"/>
                <a:cs typeface="Times New Roman" panose="02020603050405020304" pitchFamily="18" charset="0"/>
              </a:rPr>
              <a:t> Q = R – IP = 5,000 – 2,800 =</a:t>
            </a:r>
            <a:r>
              <a:rPr lang="en-IN" sz="2400" b="1" dirty="0">
                <a:highlight>
                  <a:srgbClr val="FFFF00"/>
                </a:highlight>
                <a:latin typeface="Times New Roman" panose="02020603050405020304" pitchFamily="18" charset="0"/>
                <a:cs typeface="Times New Roman" panose="02020603050405020304" pitchFamily="18" charset="0"/>
              </a:rPr>
              <a:t>2,200 soaps.</a:t>
            </a:r>
            <a:endParaRPr lang="en-IN" sz="2000" b="1" dirty="0">
              <a:highlight>
                <a:srgbClr val="FFFF00"/>
              </a:highligh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20B914B-77F9-3812-9A1D-82946B49E92C}"/>
              </a:ext>
            </a:extLst>
          </p:cNvPr>
          <p:cNvPicPr>
            <a:picLocks noChangeAspect="1"/>
          </p:cNvPicPr>
          <p:nvPr/>
        </p:nvPicPr>
        <p:blipFill>
          <a:blip r:embed="rId2">
            <a:duotone>
              <a:prstClr val="black"/>
              <a:schemeClr val="accent6">
                <a:tint val="45000"/>
                <a:satMod val="400000"/>
              </a:schemeClr>
            </a:duotone>
          </a:blip>
          <a:stretch>
            <a:fillRect/>
          </a:stretch>
        </p:blipFill>
        <p:spPr>
          <a:xfrm>
            <a:off x="4967012" y="945932"/>
            <a:ext cx="6572897" cy="2923144"/>
          </a:xfrm>
          <a:prstGeom prst="rect">
            <a:avLst/>
          </a:prstGeom>
        </p:spPr>
      </p:pic>
    </p:spTree>
    <p:extLst>
      <p:ext uri="{BB962C8B-B14F-4D97-AF65-F5344CB8AC3E}">
        <p14:creationId xmlns:p14="http://schemas.microsoft.com/office/powerpoint/2010/main" val="937896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578F5F-F619-E69B-5137-4019C3A7F10D}"/>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DA65F2B9-C9B5-0E88-44D7-E47E41F97A48}"/>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bg1"/>
                </a:solidFill>
              </a:rPr>
              <a:t>FIXED ORDER QUANTITY SYSTEM</a:t>
            </a:r>
            <a:endParaRPr lang="en-IN" sz="3200" b="1" dirty="0">
              <a:solidFill>
                <a:srgbClr val="FFFF00"/>
              </a:solidFill>
            </a:endParaRPr>
          </a:p>
          <a:p>
            <a:pPr algn="ctr"/>
            <a:r>
              <a:rPr lang="en-IN" sz="3200" b="1" dirty="0">
                <a:solidFill>
                  <a:srgbClr val="FFFF00"/>
                </a:solidFill>
              </a:rPr>
              <a:t>Determining Economic Order Quantity (EOQ) </a:t>
            </a:r>
          </a:p>
        </p:txBody>
      </p:sp>
      <p:sp>
        <p:nvSpPr>
          <p:cNvPr id="5" name="TextBox 4">
            <a:extLst>
              <a:ext uri="{FF2B5EF4-FFF2-40B4-BE49-F238E27FC236}">
                <a16:creationId xmlns:a16="http://schemas.microsoft.com/office/drawing/2014/main" id="{C708E3A5-AD47-DBD0-E473-0473D0E02437}"/>
              </a:ext>
            </a:extLst>
          </p:cNvPr>
          <p:cNvSpPr txBox="1"/>
          <p:nvPr/>
        </p:nvSpPr>
        <p:spPr>
          <a:xfrm>
            <a:off x="645250" y="945932"/>
            <a:ext cx="10755253" cy="5632311"/>
          </a:xfrm>
          <a:prstGeom prst="rect">
            <a:avLst/>
          </a:prstGeom>
          <a:solidFill>
            <a:schemeClr val="accent4">
              <a:lumMod val="20000"/>
              <a:lumOff val="80000"/>
            </a:schemeClr>
          </a:solidFill>
        </p:spPr>
        <p:txBody>
          <a:bodyPr wrap="square">
            <a:spAutoFit/>
          </a:bodyPr>
          <a:lstStyle/>
          <a:p>
            <a:pPr marL="900113" indent="-635000" algn="just">
              <a:buFont typeface="Wingdings" panose="05000000000000000000" pitchFamily="2" charset="2"/>
              <a:buChar char="v"/>
            </a:pPr>
            <a:r>
              <a:rPr lang="en-US" sz="2400" b="1" u="none" strike="noStrike" dirty="0">
                <a:effectLst/>
                <a:highlight>
                  <a:srgbClr val="FFFF00"/>
                </a:highlight>
                <a:latin typeface="Times New Roman" panose="02020603050405020304" pitchFamily="18" charset="0"/>
                <a:cs typeface="Times New Roman" panose="02020603050405020304" pitchFamily="18" charset="0"/>
              </a:rPr>
              <a:t>Economic Order Quantity (EOQ)</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an inventory management technique that determines the </a:t>
            </a:r>
            <a:r>
              <a:rPr lang="en-US" sz="2400" b="1" dirty="0">
                <a:highlight>
                  <a:srgbClr val="FFFF00"/>
                </a:highlight>
                <a:latin typeface="Times New Roman" panose="02020603050405020304" pitchFamily="18" charset="0"/>
                <a:cs typeface="Times New Roman" panose="02020603050405020304" pitchFamily="18" charset="0"/>
              </a:rPr>
              <a:t>optimal order size </a:t>
            </a:r>
            <a:r>
              <a:rPr lang="en-US" sz="2400" dirty="0">
                <a:latin typeface="Times New Roman" panose="02020603050405020304" pitchFamily="18" charset="0"/>
                <a:cs typeface="Times New Roman" panose="02020603050405020304" pitchFamily="18" charset="0"/>
              </a:rPr>
              <a:t>a company should purchase to </a:t>
            </a:r>
            <a:r>
              <a:rPr lang="en-US" sz="2400" b="1" dirty="0" err="1">
                <a:highlight>
                  <a:srgbClr val="FFFF00"/>
                </a:highlight>
                <a:latin typeface="Times New Roman" panose="02020603050405020304" pitchFamily="18" charset="0"/>
                <a:cs typeface="Times New Roman" panose="02020603050405020304" pitchFamily="18" charset="0"/>
              </a:rPr>
              <a:t>minimise</a:t>
            </a:r>
            <a:r>
              <a:rPr lang="en-US" sz="2400" b="1" dirty="0">
                <a:highlight>
                  <a:srgbClr val="FFFF00"/>
                </a:highlight>
                <a:latin typeface="Times New Roman" panose="02020603050405020304" pitchFamily="18" charset="0"/>
                <a:cs typeface="Times New Roman" panose="02020603050405020304" pitchFamily="18" charset="0"/>
              </a:rPr>
              <a:t> total inventory costs</a:t>
            </a:r>
            <a:r>
              <a:rPr lang="en-US" sz="2400" dirty="0">
                <a:latin typeface="Times New Roman" panose="02020603050405020304" pitchFamily="18" charset="0"/>
                <a:cs typeface="Times New Roman" panose="02020603050405020304" pitchFamily="18" charset="0"/>
              </a:rPr>
              <a:t>, including holding and ordering costs.</a:t>
            </a:r>
          </a:p>
          <a:p>
            <a:pPr marL="265113" algn="ctr"/>
            <a:endParaRPr lang="en-US" sz="2000" b="1" dirty="0">
              <a:solidFill>
                <a:srgbClr val="FF0000"/>
              </a:solidFill>
              <a:latin typeface="Times New Roman" panose="02020603050405020304" pitchFamily="18" charset="0"/>
              <a:cs typeface="Times New Roman" panose="02020603050405020304" pitchFamily="18" charset="0"/>
            </a:endParaRPr>
          </a:p>
          <a:p>
            <a:pPr marL="265113" algn="ctr"/>
            <a:r>
              <a:rPr lang="en-US" sz="2400" b="1" dirty="0">
                <a:solidFill>
                  <a:srgbClr val="FF0000"/>
                </a:solidFill>
                <a:highlight>
                  <a:srgbClr val="00FFFF"/>
                </a:highlight>
                <a:latin typeface="Times New Roman" panose="02020603050405020304" pitchFamily="18" charset="0"/>
                <a:cs typeface="Times New Roman" panose="02020603050405020304" pitchFamily="18" charset="0"/>
              </a:rPr>
              <a:t>Total Inventory Cost (TIC)  = Total Ordering Cost + Total Holding Cost</a:t>
            </a:r>
          </a:p>
          <a:p>
            <a:pPr marL="265113" algn="ctr"/>
            <a:endParaRPr lang="en-US" sz="2800" dirty="0">
              <a:latin typeface="Times New Roman" panose="02020603050405020304" pitchFamily="18" charset="0"/>
              <a:cs typeface="Times New Roman" panose="02020603050405020304" pitchFamily="18" charset="0"/>
            </a:endParaRPr>
          </a:p>
          <a:p>
            <a:pPr marL="265113" lvl="1" algn="just"/>
            <a:r>
              <a:rPr lang="en-US" sz="2400" dirty="0">
                <a:latin typeface="Times New Roman" panose="02020603050405020304" pitchFamily="18" charset="0"/>
                <a:cs typeface="Times New Roman" panose="02020603050405020304" pitchFamily="18" charset="0"/>
              </a:rPr>
              <a:t>	=&gt; TIC = [Number of Orders per Year * Ordering Cost per Order] </a:t>
            </a:r>
          </a:p>
          <a:p>
            <a:pPr marL="265113" lvl="1" algn="just"/>
            <a:r>
              <a:rPr lang="en-US" sz="2400" dirty="0">
                <a:latin typeface="Times New Roman" panose="02020603050405020304" pitchFamily="18" charset="0"/>
                <a:cs typeface="Times New Roman" panose="02020603050405020304" pitchFamily="18" charset="0"/>
              </a:rPr>
              <a:t>	+ [Average Annual Inventory * Annual Holding Cost per Unit]	</a:t>
            </a:r>
          </a:p>
          <a:p>
            <a:pPr marL="265113" lvl="1" algn="just"/>
            <a:r>
              <a:rPr lang="en-US" sz="2400" dirty="0">
                <a:latin typeface="Times New Roman" panose="02020603050405020304" pitchFamily="18" charset="0"/>
                <a:cs typeface="Times New Roman" panose="02020603050405020304" pitchFamily="18" charset="0"/>
              </a:rPr>
              <a:t>	</a:t>
            </a:r>
          </a:p>
          <a:p>
            <a:pPr marL="265113" lvl="1" algn="just"/>
            <a:r>
              <a:rPr lang="en-US" sz="2400" dirty="0">
                <a:latin typeface="Times New Roman" panose="02020603050405020304" pitchFamily="18" charset="0"/>
                <a:cs typeface="Times New Roman" panose="02020603050405020304" pitchFamily="18" charset="0"/>
              </a:rPr>
              <a:t>	=&gt; </a:t>
            </a:r>
            <a:r>
              <a:rPr lang="en-US" sz="2400" b="1" dirty="0">
                <a:solidFill>
                  <a:srgbClr val="FF0000"/>
                </a:solidFill>
                <a:highlight>
                  <a:srgbClr val="00FFFF"/>
                </a:highlight>
                <a:latin typeface="Times New Roman" panose="02020603050405020304" pitchFamily="18" charset="0"/>
                <a:cs typeface="Times New Roman" panose="02020603050405020304" pitchFamily="18" charset="0"/>
              </a:rPr>
              <a:t>TIC = (D/Q)*S + (Q/2)*H</a:t>
            </a:r>
          </a:p>
          <a:p>
            <a:pPr marL="265113" lvl="1" algn="just"/>
            <a:r>
              <a:rPr lang="en-US" sz="2400" dirty="0">
                <a:latin typeface="Times New Roman" panose="02020603050405020304" pitchFamily="18" charset="0"/>
                <a:cs typeface="Times New Roman" panose="02020603050405020304" pitchFamily="18" charset="0"/>
              </a:rPr>
              <a:t>Where, </a:t>
            </a:r>
          </a:p>
          <a:p>
            <a:pPr marL="265113" lvl="1" algn="just"/>
            <a:r>
              <a:rPr lang="en-US" sz="2400" dirty="0">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 Annual Demand; </a:t>
            </a:r>
            <a:r>
              <a:rPr lang="en-US" sz="2400" b="1" dirty="0">
                <a:solidFill>
                  <a:srgbClr val="FF0000"/>
                </a:solidFill>
                <a:latin typeface="Times New Roman" panose="02020603050405020304" pitchFamily="18" charset="0"/>
                <a:cs typeface="Times New Roman" panose="02020603050405020304" pitchFamily="18" charset="0"/>
              </a:rPr>
              <a:t>Q</a:t>
            </a:r>
            <a:r>
              <a:rPr lang="en-US" sz="2400" dirty="0">
                <a:latin typeface="Times New Roman" panose="02020603050405020304" pitchFamily="18" charset="0"/>
                <a:cs typeface="Times New Roman" panose="02020603050405020304" pitchFamily="18" charset="0"/>
              </a:rPr>
              <a:t> = Economic Order Quantity</a:t>
            </a:r>
          </a:p>
          <a:p>
            <a:pPr marL="265113" lvl="1" algn="just"/>
            <a:r>
              <a:rPr lang="en-US" sz="2400" dirty="0">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 Ordering cost per unit; </a:t>
            </a:r>
            <a:r>
              <a:rPr lang="en-US" sz="2400" b="1" dirty="0">
                <a:solidFill>
                  <a:srgbClr val="FF0000"/>
                </a:solidFill>
                <a:latin typeface="Times New Roman" panose="02020603050405020304" pitchFamily="18" charset="0"/>
                <a:cs typeface="Times New Roman" panose="02020603050405020304" pitchFamily="18" charset="0"/>
              </a:rPr>
              <a:t>H</a:t>
            </a:r>
            <a:r>
              <a:rPr lang="en-US" sz="2400" dirty="0">
                <a:latin typeface="Times New Roman" panose="02020603050405020304" pitchFamily="18" charset="0"/>
                <a:cs typeface="Times New Roman" panose="02020603050405020304" pitchFamily="18" charset="0"/>
              </a:rPr>
              <a:t> = Holding cost per unit</a:t>
            </a:r>
          </a:p>
          <a:p>
            <a:pPr marL="265113" lvl="1" algn="just"/>
            <a:r>
              <a:rPr lang="en-US" sz="2400" dirty="0">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D/Q</a:t>
            </a:r>
            <a:r>
              <a:rPr lang="en-US" sz="2400" dirty="0">
                <a:latin typeface="Times New Roman" panose="02020603050405020304" pitchFamily="18" charset="0"/>
                <a:cs typeface="Times New Roman" panose="02020603050405020304" pitchFamily="18" charset="0"/>
              </a:rPr>
              <a:t> = Number of orders per year</a:t>
            </a:r>
          </a:p>
          <a:p>
            <a:pPr marL="265113" lvl="1" algn="just"/>
            <a:r>
              <a:rPr lang="en-US" sz="2400" dirty="0">
                <a:latin typeface="Times New Roman" panose="02020603050405020304" pitchFamily="18" charset="0"/>
                <a:cs typeface="Times New Roman" panose="02020603050405020304" pitchFamily="18" charset="0"/>
              </a:rPr>
              <a:t>	</a:t>
            </a:r>
            <a:r>
              <a:rPr lang="en-US" sz="2400" b="1" dirty="0">
                <a:solidFill>
                  <a:srgbClr val="FF0000"/>
                </a:solidFill>
                <a:latin typeface="Times New Roman" panose="02020603050405020304" pitchFamily="18" charset="0"/>
                <a:cs typeface="Times New Roman" panose="02020603050405020304" pitchFamily="18" charset="0"/>
              </a:rPr>
              <a:t>Q/2</a:t>
            </a:r>
            <a:r>
              <a:rPr lang="en-US" sz="2400" dirty="0">
                <a:latin typeface="Times New Roman" panose="02020603050405020304" pitchFamily="18" charset="0"/>
                <a:cs typeface="Times New Roman" panose="02020603050405020304" pitchFamily="18" charset="0"/>
              </a:rPr>
              <a:t> = Average annual inventory</a:t>
            </a:r>
          </a:p>
        </p:txBody>
      </p:sp>
    </p:spTree>
    <p:extLst>
      <p:ext uri="{BB962C8B-B14F-4D97-AF65-F5344CB8AC3E}">
        <p14:creationId xmlns:p14="http://schemas.microsoft.com/office/powerpoint/2010/main" val="2122182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27076-9501-49A6-5738-2923FC23D9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BC910E-FB2F-1EBE-4947-44DCED0CE1C5}"/>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bg1"/>
                </a:solidFill>
              </a:rPr>
              <a:t>FIXED ORDER QUANTITY SYSTEM</a:t>
            </a:r>
            <a:endParaRPr lang="en-IN" sz="3200" b="1" dirty="0">
              <a:solidFill>
                <a:srgbClr val="FFFF00"/>
              </a:solidFill>
            </a:endParaRPr>
          </a:p>
          <a:p>
            <a:pPr algn="ctr"/>
            <a:r>
              <a:rPr lang="en-IN" sz="3200" b="1" dirty="0">
                <a:solidFill>
                  <a:srgbClr val="FFFF00"/>
                </a:solidFill>
              </a:rPr>
              <a:t>Determining Economic Order Quantity (EOQ) </a:t>
            </a:r>
          </a:p>
        </p:txBody>
      </p:sp>
      <p:sp>
        <p:nvSpPr>
          <p:cNvPr id="5" name="TextBox 4">
            <a:extLst>
              <a:ext uri="{FF2B5EF4-FFF2-40B4-BE49-F238E27FC236}">
                <a16:creationId xmlns:a16="http://schemas.microsoft.com/office/drawing/2014/main" id="{99037AB5-5974-637B-D745-9DF17466B4D9}"/>
              </a:ext>
            </a:extLst>
          </p:cNvPr>
          <p:cNvSpPr txBox="1"/>
          <p:nvPr/>
        </p:nvSpPr>
        <p:spPr>
          <a:xfrm>
            <a:off x="413975" y="945932"/>
            <a:ext cx="11030776" cy="2092881"/>
          </a:xfrm>
          <a:prstGeom prst="rect">
            <a:avLst/>
          </a:prstGeom>
          <a:solidFill>
            <a:srgbClr val="FFFFCC"/>
          </a:solidFill>
        </p:spPr>
        <p:txBody>
          <a:bodyPr wrap="square">
            <a:spAutoFit/>
          </a:bodyPr>
          <a:lstStyle/>
          <a:p>
            <a:pPr marL="265113" algn="just"/>
            <a:r>
              <a:rPr lang="en-US" sz="2600" dirty="0">
                <a:latin typeface="Times New Roman" panose="02020603050405020304" pitchFamily="18" charset="0"/>
                <a:cs typeface="Times New Roman" panose="02020603050405020304" pitchFamily="18" charset="0"/>
              </a:rPr>
              <a:t>Here, the basic objective is to </a:t>
            </a:r>
            <a:r>
              <a:rPr lang="en-US" sz="2600" dirty="0">
                <a:solidFill>
                  <a:srgbClr val="FF0000"/>
                </a:solidFill>
                <a:latin typeface="Times New Roman" panose="02020603050405020304" pitchFamily="18" charset="0"/>
                <a:cs typeface="Times New Roman" panose="02020603050405020304" pitchFamily="18" charset="0"/>
              </a:rPr>
              <a:t>determine the Economic Order Quantity (EOQ)</a:t>
            </a:r>
            <a:r>
              <a:rPr lang="en-US" sz="2600" dirty="0">
                <a:latin typeface="Times New Roman" panose="02020603050405020304" pitchFamily="18" charset="0"/>
                <a:cs typeface="Times New Roman" panose="02020603050405020304" pitchFamily="18" charset="0"/>
              </a:rPr>
              <a:t>.</a:t>
            </a:r>
          </a:p>
          <a:p>
            <a:pPr marL="265113" lvl="1" algn="just"/>
            <a:r>
              <a:rPr lang="en-US" sz="2600" dirty="0">
                <a:latin typeface="Times New Roman" panose="02020603050405020304" pitchFamily="18" charset="0"/>
                <a:cs typeface="Times New Roman" panose="02020603050405020304" pitchFamily="18" charset="0"/>
              </a:rPr>
              <a:t>To find EOQ (Q), </a:t>
            </a:r>
            <a:endParaRPr lang="en-US" sz="2600" b="1" dirty="0">
              <a:highlight>
                <a:srgbClr val="00FFFF"/>
              </a:highlight>
              <a:latin typeface="Times New Roman" panose="02020603050405020304" pitchFamily="18" charset="0"/>
              <a:cs typeface="Times New Roman" panose="02020603050405020304" pitchFamily="18" charset="0"/>
            </a:endParaRPr>
          </a:p>
          <a:p>
            <a:pPr marL="1165225" lvl="2" indent="-442913" algn="just">
              <a:buFont typeface="Wingdings" panose="05000000000000000000" pitchFamily="2" charset="2"/>
              <a:buChar char="§"/>
            </a:pPr>
            <a:r>
              <a:rPr lang="en-US" sz="2600" b="1" dirty="0">
                <a:highlight>
                  <a:srgbClr val="00FFFF"/>
                </a:highlight>
                <a:latin typeface="Times New Roman" panose="02020603050405020304" pitchFamily="18" charset="0"/>
                <a:cs typeface="Times New Roman" panose="02020603050405020304" pitchFamily="18" charset="0"/>
              </a:rPr>
              <a:t>minimize TIC </a:t>
            </a:r>
          </a:p>
          <a:p>
            <a:pPr marL="1165225" lvl="2" indent="-442913" algn="jus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Taking first order derivative of TIC with respect to Q, </a:t>
            </a:r>
          </a:p>
          <a:p>
            <a:pPr marL="1165225" lvl="2" indent="-442913" algn="jus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Set it to zero and Solving for ‘Q’.</a:t>
            </a:r>
          </a:p>
        </p:txBody>
      </p:sp>
      <p:pic>
        <p:nvPicPr>
          <p:cNvPr id="11" name="Picture 10">
            <a:extLst>
              <a:ext uri="{FF2B5EF4-FFF2-40B4-BE49-F238E27FC236}">
                <a16:creationId xmlns:a16="http://schemas.microsoft.com/office/drawing/2014/main" id="{38F32263-8432-DA93-970E-A4CB6787BE3B}"/>
              </a:ext>
            </a:extLst>
          </p:cNvPr>
          <p:cNvPicPr>
            <a:picLocks noChangeAspect="1"/>
          </p:cNvPicPr>
          <p:nvPr/>
        </p:nvPicPr>
        <p:blipFill>
          <a:blip r:embed="rId2"/>
          <a:stretch>
            <a:fillRect/>
          </a:stretch>
        </p:blipFill>
        <p:spPr>
          <a:xfrm>
            <a:off x="349553" y="2988938"/>
            <a:ext cx="8294586" cy="3311288"/>
          </a:xfrm>
          <a:prstGeom prst="rect">
            <a:avLst/>
          </a:prstGeom>
        </p:spPr>
      </p:pic>
      <p:sp>
        <p:nvSpPr>
          <p:cNvPr id="14" name="Rectangle 13">
            <a:extLst>
              <a:ext uri="{FF2B5EF4-FFF2-40B4-BE49-F238E27FC236}">
                <a16:creationId xmlns:a16="http://schemas.microsoft.com/office/drawing/2014/main" id="{1984476B-2822-9549-1B6B-7B7A85BCCBF1}"/>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43C69C28-4B2F-E64D-79F9-0FE17CD532A6}"/>
              </a:ext>
            </a:extLst>
          </p:cNvPr>
          <p:cNvPicPr>
            <a:picLocks noChangeAspect="1"/>
          </p:cNvPicPr>
          <p:nvPr/>
        </p:nvPicPr>
        <p:blipFill>
          <a:blip r:embed="rId3"/>
          <a:stretch>
            <a:fillRect/>
          </a:stretch>
        </p:blipFill>
        <p:spPr>
          <a:xfrm>
            <a:off x="6701652" y="3039343"/>
            <a:ext cx="4743099" cy="3261643"/>
          </a:xfrm>
          <a:prstGeom prst="rect">
            <a:avLst/>
          </a:prstGeom>
        </p:spPr>
      </p:pic>
    </p:spTree>
    <p:extLst>
      <p:ext uri="{BB962C8B-B14F-4D97-AF65-F5344CB8AC3E}">
        <p14:creationId xmlns:p14="http://schemas.microsoft.com/office/powerpoint/2010/main" val="2407582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25F34-0F86-1827-571B-A53586297EA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0ED9BC4-1A00-6AC8-8055-96116CF65219}"/>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9E556CC0-93CC-5A12-7074-166655E7B971}"/>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chemeClr val="bg1"/>
                </a:solidFill>
              </a:rPr>
              <a:t>FIXED ORDER QUANTITY SYSTEM</a:t>
            </a:r>
            <a:endParaRPr lang="en-IN" sz="3200" b="1" dirty="0">
              <a:solidFill>
                <a:srgbClr val="FFFF00"/>
              </a:solidFill>
            </a:endParaRPr>
          </a:p>
          <a:p>
            <a:pPr algn="ctr"/>
            <a:r>
              <a:rPr lang="en-IN" sz="3200" b="1" dirty="0">
                <a:solidFill>
                  <a:srgbClr val="FFFF00"/>
                </a:solidFill>
              </a:rPr>
              <a:t>Determining Economic Order Quantity (EOQ) </a:t>
            </a:r>
          </a:p>
        </p:txBody>
      </p:sp>
      <p:sp>
        <p:nvSpPr>
          <p:cNvPr id="8" name="TextBox 7">
            <a:extLst>
              <a:ext uri="{FF2B5EF4-FFF2-40B4-BE49-F238E27FC236}">
                <a16:creationId xmlns:a16="http://schemas.microsoft.com/office/drawing/2014/main" id="{AE825EE0-5F39-0558-BA85-FB0A7D85928C}"/>
              </a:ext>
            </a:extLst>
          </p:cNvPr>
          <p:cNvSpPr txBox="1"/>
          <p:nvPr/>
        </p:nvSpPr>
        <p:spPr>
          <a:xfrm>
            <a:off x="755376" y="1044279"/>
            <a:ext cx="11115782" cy="1569660"/>
          </a:xfrm>
          <a:prstGeom prst="rect">
            <a:avLst/>
          </a:prstGeom>
          <a:solidFill>
            <a:schemeClr val="accent6">
              <a:lumMod val="20000"/>
              <a:lumOff val="80000"/>
            </a:schemeClr>
          </a:solidFill>
        </p:spPr>
        <p:txBody>
          <a:bodyPr wrap="square">
            <a:spAutoFit/>
          </a:bodyPr>
          <a:lstStyle/>
          <a:p>
            <a:pPr algn="just"/>
            <a:r>
              <a:rPr lang="en-US" sz="2400" b="0" i="0" u="none" strike="noStrike" baseline="0" dirty="0">
                <a:latin typeface="Times New Roman" panose="02020603050405020304" pitchFamily="18" charset="0"/>
                <a:cs typeface="Times New Roman" panose="02020603050405020304" pitchFamily="18" charset="0"/>
              </a:rPr>
              <a:t>Georgia’s Florist ordered orchids once a month in quantities of 1,000 to simply match the monthly demand. Orchids are expensive to order with an ordering cost of $300 per </a:t>
            </a:r>
            <a:r>
              <a:rPr lang="en-US" sz="2400" dirty="0">
                <a:latin typeface="Times New Roman" panose="02020603050405020304" pitchFamily="18" charset="0"/>
                <a:cs typeface="Times New Roman" panose="02020603050405020304" pitchFamily="18" charset="0"/>
              </a:rPr>
              <a:t>order. Holding cost is estimated at 15% of product cost annually, with a product cost of </a:t>
            </a:r>
            <a:r>
              <a:rPr lang="en-IN" sz="2400" dirty="0">
                <a:latin typeface="Times New Roman" panose="02020603050405020304" pitchFamily="18" charset="0"/>
                <a:cs typeface="Times New Roman" panose="02020603050405020304" pitchFamily="18" charset="0"/>
              </a:rPr>
              <a:t>$60 per unit. </a:t>
            </a:r>
            <a:r>
              <a:rPr lang="en-US" sz="2400" dirty="0">
                <a:latin typeface="Times New Roman" panose="02020603050405020304" pitchFamily="18" charset="0"/>
                <a:cs typeface="Times New Roman" panose="02020603050405020304" pitchFamily="18" charset="0"/>
              </a:rPr>
              <a:t>What would be your order? What is the number of orders per year?</a:t>
            </a:r>
            <a:endParaRPr lang="en-IN" sz="3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50DB4E2-8A1A-4096-5A64-4F5AF65A62A5}"/>
              </a:ext>
            </a:extLst>
          </p:cNvPr>
          <p:cNvSpPr txBox="1"/>
          <p:nvPr/>
        </p:nvSpPr>
        <p:spPr>
          <a:xfrm>
            <a:off x="677780" y="2598770"/>
            <a:ext cx="11193378" cy="1815882"/>
          </a:xfrm>
          <a:prstGeom prst="rect">
            <a:avLst/>
          </a:prstGeom>
          <a:solidFill>
            <a:srgbClr val="FFFFCC"/>
          </a:solidFill>
        </p:spPr>
        <p:txBody>
          <a:bodyPr wrap="square">
            <a:spAutoFit/>
          </a:bodyPr>
          <a:lstStyle/>
          <a:p>
            <a:pPr algn="l"/>
            <a:r>
              <a:rPr lang="en-US" sz="2800" dirty="0">
                <a:latin typeface="Times New Roman" panose="02020603050405020304" pitchFamily="18" charset="0"/>
                <a:cs typeface="Times New Roman" panose="02020603050405020304" pitchFamily="18" charset="0"/>
              </a:rPr>
              <a:t>T</a:t>
            </a:r>
            <a:r>
              <a:rPr lang="en-US" sz="2800" b="0" i="0" u="none" strike="noStrike" baseline="0" dirty="0">
                <a:latin typeface="Times New Roman" panose="02020603050405020304" pitchFamily="18" charset="0"/>
                <a:cs typeface="Times New Roman" panose="02020603050405020304" pitchFamily="18" charset="0"/>
              </a:rPr>
              <a:t>he following information is given:</a:t>
            </a:r>
          </a:p>
          <a:p>
            <a:pPr algn="l"/>
            <a:r>
              <a:rPr lang="en-US" sz="2800" b="0" i="0" u="none" strike="noStrike" baseline="0" dirty="0">
                <a:latin typeface="Times New Roman" panose="02020603050405020304" pitchFamily="18" charset="0"/>
                <a:cs typeface="Times New Roman" panose="02020603050405020304" pitchFamily="18" charset="0"/>
              </a:rPr>
              <a:t>Annual demand (D) =1,000 orchids per month * 12 months = 12,000 orchids</a:t>
            </a:r>
          </a:p>
          <a:p>
            <a:pPr algn="l"/>
            <a:r>
              <a:rPr lang="en-IN" sz="2800" b="0" i="0" u="none" strike="noStrike" baseline="0" dirty="0">
                <a:latin typeface="Times New Roman" panose="02020603050405020304" pitchFamily="18" charset="0"/>
                <a:cs typeface="Times New Roman" panose="02020603050405020304" pitchFamily="18" charset="0"/>
              </a:rPr>
              <a:t>Holding cost per unit (H) = 15 % of $60 = $9 </a:t>
            </a:r>
          </a:p>
          <a:p>
            <a:pPr algn="l"/>
            <a:r>
              <a:rPr lang="en-US" sz="2800" b="0" i="0" u="none" strike="noStrike" baseline="0" dirty="0">
                <a:latin typeface="Times New Roman" panose="02020603050405020304" pitchFamily="18" charset="0"/>
                <a:cs typeface="Times New Roman" panose="02020603050405020304" pitchFamily="18" charset="0"/>
              </a:rPr>
              <a:t>Ordering cost per order (S) = $300</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6F3D3C-A4AD-7284-BBDE-0C049481332C}"/>
                  </a:ext>
                </a:extLst>
              </p:cNvPr>
              <p:cNvSpPr txBox="1"/>
              <p:nvPr/>
            </p:nvSpPr>
            <p:spPr>
              <a:xfrm>
                <a:off x="690508" y="4422099"/>
                <a:ext cx="11193377" cy="1135952"/>
              </a:xfrm>
              <a:prstGeom prst="rect">
                <a:avLst/>
              </a:prstGeom>
              <a:solidFill>
                <a:schemeClr val="accent4">
                  <a:lumMod val="20000"/>
                  <a:lumOff val="80000"/>
                </a:schemeClr>
              </a:solidFill>
            </p:spPr>
            <p:txBody>
              <a:bodyPr wrap="square">
                <a:spAutoFit/>
              </a:bodyPr>
              <a:lstStyle/>
              <a:p>
                <a:r>
                  <a:rPr lang="en-IN" sz="2800" b="0" i="0" u="none" strike="noStrike" baseline="0" dirty="0">
                    <a:latin typeface="Times New Roman" panose="02020603050405020304" pitchFamily="18" charset="0"/>
                    <a:cs typeface="Times New Roman" panose="02020603050405020304" pitchFamily="18" charset="0"/>
                  </a:rPr>
                  <a:t>	EOQ</a:t>
                </a:r>
                <a:r>
                  <a:rPr lang="en-IN" sz="2800" dirty="0">
                    <a:latin typeface="Times New Roman" panose="02020603050405020304" pitchFamily="18" charset="0"/>
                    <a:cs typeface="Times New Roman" panose="02020603050405020304" pitchFamily="18" charset="0"/>
                  </a:rPr>
                  <a:t> 	= </a:t>
                </a:r>
                <a14:m>
                  <m:oMath xmlns:m="http://schemas.openxmlformats.org/officeDocument/2006/math">
                    <m:r>
                      <m:rPr>
                        <m:nor/>
                      </m:rPr>
                      <a:rPr lang="en-US" sz="2800" b="1" dirty="0" smtClean="0">
                        <a:solidFill>
                          <a:srgbClr val="FF0000"/>
                        </a:solidFill>
                        <a:latin typeface="Times New Roman" panose="02020603050405020304" pitchFamily="18" charset="0"/>
                        <a:cs typeface="Times New Roman" panose="02020603050405020304" pitchFamily="18" charset="0"/>
                      </a:rPr>
                      <m:t>Q</m:t>
                    </m:r>
                    <m:r>
                      <m:rPr>
                        <m:nor/>
                      </m:rPr>
                      <a:rPr lang="en-US" sz="2800" b="1" dirty="0" smtClean="0">
                        <a:solidFill>
                          <a:srgbClr val="FF0000"/>
                        </a:solidFill>
                        <a:latin typeface="Times New Roman" panose="02020603050405020304" pitchFamily="18" charset="0"/>
                        <a:cs typeface="Times New Roman" panose="02020603050405020304" pitchFamily="18" charset="0"/>
                      </a:rPr>
                      <m:t> = </m:t>
                    </m:r>
                    <m:rad>
                      <m:radPr>
                        <m:degHide m:val="on"/>
                        <m:ctrlPr>
                          <a:rPr lang="en-US" sz="2800" b="1" i="1">
                            <a:solidFill>
                              <a:srgbClr val="FF0000"/>
                            </a:solidFill>
                            <a:latin typeface="Cambria Math" panose="02040503050406030204" pitchFamily="18" charset="0"/>
                            <a:cs typeface="Times New Roman" panose="02020603050405020304" pitchFamily="18" charset="0"/>
                          </a:rPr>
                        </m:ctrlPr>
                      </m:radPr>
                      <m:deg/>
                      <m:e>
                        <m:r>
                          <a:rPr lang="en-IN" sz="2800" b="1" i="1">
                            <a:solidFill>
                              <a:srgbClr val="FF0000"/>
                            </a:solidFill>
                            <a:latin typeface="Cambria Math" panose="02040503050406030204" pitchFamily="18" charset="0"/>
                            <a:cs typeface="Times New Roman" panose="02020603050405020304" pitchFamily="18" charset="0"/>
                          </a:rPr>
                          <m:t>(</m:t>
                        </m:r>
                        <m:r>
                          <a:rPr lang="en-IN" sz="2800" b="1" i="1">
                            <a:solidFill>
                              <a:srgbClr val="FF0000"/>
                            </a:solidFill>
                            <a:latin typeface="Cambria Math" panose="02040503050406030204" pitchFamily="18" charset="0"/>
                            <a:cs typeface="Times New Roman" panose="02020603050405020304" pitchFamily="18" charset="0"/>
                          </a:rPr>
                          <m:t>𝟐</m:t>
                        </m:r>
                        <m:r>
                          <a:rPr lang="en-IN" sz="2800" b="1" i="1">
                            <a:solidFill>
                              <a:srgbClr val="FF0000"/>
                            </a:solidFill>
                            <a:latin typeface="Cambria Math" panose="02040503050406030204" pitchFamily="18" charset="0"/>
                            <a:cs typeface="Times New Roman" panose="02020603050405020304" pitchFamily="18" charset="0"/>
                          </a:rPr>
                          <m:t>𝑫𝑺</m:t>
                        </m:r>
                        <m:r>
                          <a:rPr lang="en-IN" sz="2800" b="1" i="1">
                            <a:solidFill>
                              <a:srgbClr val="FF0000"/>
                            </a:solidFill>
                            <a:latin typeface="Cambria Math" panose="02040503050406030204" pitchFamily="18" charset="0"/>
                            <a:cs typeface="Times New Roman" panose="02020603050405020304" pitchFamily="18" charset="0"/>
                          </a:rPr>
                          <m:t>)/</m:t>
                        </m:r>
                        <m:r>
                          <a:rPr lang="en-IN" sz="2800" b="1" i="1">
                            <a:solidFill>
                              <a:srgbClr val="FF0000"/>
                            </a:solidFill>
                            <a:latin typeface="Cambria Math" panose="02040503050406030204" pitchFamily="18" charset="0"/>
                            <a:cs typeface="Times New Roman" panose="02020603050405020304" pitchFamily="18" charset="0"/>
                          </a:rPr>
                          <m:t>𝑯</m:t>
                        </m:r>
                      </m:e>
                    </m:rad>
                  </m:oMath>
                </a14:m>
                <a:r>
                  <a:rPr lang="en-IN" sz="2800" b="1" dirty="0"/>
                  <a:t>  = </a:t>
                </a:r>
                <a14:m>
                  <m:oMath xmlns:m="http://schemas.openxmlformats.org/officeDocument/2006/math">
                    <m:rad>
                      <m:radPr>
                        <m:degHide m:val="on"/>
                        <m:ctrlPr>
                          <a:rPr lang="en-US" sz="2800" b="1" i="1">
                            <a:latin typeface="Cambria Math" panose="02040503050406030204" pitchFamily="18" charset="0"/>
                            <a:cs typeface="Times New Roman" panose="02020603050405020304" pitchFamily="18" charset="0"/>
                          </a:rPr>
                        </m:ctrlPr>
                      </m:radPr>
                      <m:deg/>
                      <m:e>
                        <m:r>
                          <a:rPr lang="en-IN" sz="2800" b="1" i="1" smtClean="0">
                            <a:latin typeface="Cambria Math" panose="02040503050406030204" pitchFamily="18" charset="0"/>
                            <a:cs typeface="Times New Roman" panose="02020603050405020304" pitchFamily="18" charset="0"/>
                          </a:rPr>
                          <m:t>[</m:t>
                        </m:r>
                        <m:r>
                          <a:rPr lang="en-IN" sz="2800" b="1" i="1">
                            <a:latin typeface="Cambria Math" panose="02040503050406030204" pitchFamily="18" charset="0"/>
                            <a:cs typeface="Times New Roman" panose="02020603050405020304" pitchFamily="18" charset="0"/>
                          </a:rPr>
                          <m:t>𝟐</m:t>
                        </m:r>
                        <m:r>
                          <a:rPr lang="en-IN" sz="2800" b="1" i="1" smtClean="0">
                            <a:latin typeface="Cambria Math" panose="02040503050406030204" pitchFamily="18" charset="0"/>
                            <a:cs typeface="Times New Roman" panose="02020603050405020304" pitchFamily="18" charset="0"/>
                          </a:rPr>
                          <m:t>∗</m:t>
                        </m:r>
                        <m:r>
                          <a:rPr lang="en-IN" sz="2800" b="1" i="1" smtClean="0">
                            <a:latin typeface="Cambria Math" panose="02040503050406030204" pitchFamily="18" charset="0"/>
                            <a:cs typeface="Times New Roman" panose="02020603050405020304" pitchFamily="18" charset="0"/>
                          </a:rPr>
                          <m:t>𝟏𝟐𝟎𝟎𝟎</m:t>
                        </m:r>
                        <m:r>
                          <a:rPr lang="en-IN" sz="2800" b="1" i="1" smtClean="0">
                            <a:latin typeface="Cambria Math" panose="02040503050406030204" pitchFamily="18" charset="0"/>
                            <a:cs typeface="Times New Roman" panose="02020603050405020304" pitchFamily="18" charset="0"/>
                          </a:rPr>
                          <m:t>∗</m:t>
                        </m:r>
                        <m:r>
                          <a:rPr lang="en-IN" sz="2800" b="1" i="1" smtClean="0">
                            <a:latin typeface="Cambria Math" panose="02040503050406030204" pitchFamily="18" charset="0"/>
                            <a:cs typeface="Times New Roman" panose="02020603050405020304" pitchFamily="18" charset="0"/>
                          </a:rPr>
                          <m:t>𝟑𝟎𝟎</m:t>
                        </m:r>
                        <m:r>
                          <a:rPr lang="en-IN" sz="2800" b="1" i="1" smtClean="0">
                            <a:latin typeface="Cambria Math" panose="02040503050406030204" pitchFamily="18" charset="0"/>
                            <a:cs typeface="Times New Roman" panose="02020603050405020304" pitchFamily="18" charset="0"/>
                          </a:rPr>
                          <m:t>]/</m:t>
                        </m:r>
                        <m:r>
                          <a:rPr lang="en-IN" sz="2800" b="1" i="1" smtClean="0">
                            <a:latin typeface="Cambria Math" panose="02040503050406030204" pitchFamily="18" charset="0"/>
                            <a:cs typeface="Times New Roman" panose="02020603050405020304" pitchFamily="18" charset="0"/>
                          </a:rPr>
                          <m:t>𝟗</m:t>
                        </m:r>
                      </m:e>
                    </m:rad>
                  </m:oMath>
                </a14:m>
                <a:endParaRPr lang="en-IN" sz="2800" b="1" dirty="0"/>
              </a:p>
              <a:p>
                <a:r>
                  <a:rPr lang="en-IN" sz="2800" dirty="0">
                    <a:latin typeface="Times New Roman" panose="02020603050405020304" pitchFamily="18" charset="0"/>
                    <a:cs typeface="Times New Roman" panose="02020603050405020304" pitchFamily="18" charset="0"/>
                  </a:rPr>
                  <a:t>		= </a:t>
                </a:r>
                <a14:m>
                  <m:oMath xmlns:m="http://schemas.openxmlformats.org/officeDocument/2006/math">
                    <m:rad>
                      <m:radPr>
                        <m:degHide m:val="on"/>
                        <m:ctrlPr>
                          <a:rPr lang="en-US" sz="2800" b="1" i="1">
                            <a:latin typeface="Cambria Math" panose="02040503050406030204" pitchFamily="18" charset="0"/>
                            <a:cs typeface="Times New Roman" panose="02020603050405020304" pitchFamily="18" charset="0"/>
                          </a:rPr>
                        </m:ctrlPr>
                      </m:radPr>
                      <m:deg/>
                      <m:e>
                        <m:r>
                          <a:rPr lang="en-IN" sz="2800" b="1" i="1" smtClean="0">
                            <a:latin typeface="Cambria Math" panose="02040503050406030204" pitchFamily="18" charset="0"/>
                            <a:cs typeface="Times New Roman" panose="02020603050405020304" pitchFamily="18" charset="0"/>
                          </a:rPr>
                          <m:t>𝟕𝟐</m:t>
                        </m:r>
                        <m:r>
                          <a:rPr lang="en-IN" sz="2800" b="1" i="1" smtClean="0">
                            <a:latin typeface="Cambria Math" panose="02040503050406030204" pitchFamily="18" charset="0"/>
                            <a:cs typeface="Times New Roman" panose="02020603050405020304" pitchFamily="18" charset="0"/>
                          </a:rPr>
                          <m:t>,</m:t>
                        </m:r>
                        <m:r>
                          <a:rPr lang="en-IN" sz="2800" b="1" i="1" smtClean="0">
                            <a:latin typeface="Cambria Math" panose="02040503050406030204" pitchFamily="18" charset="0"/>
                            <a:cs typeface="Times New Roman" panose="02020603050405020304" pitchFamily="18" charset="0"/>
                          </a:rPr>
                          <m:t>𝟎𝟎</m:t>
                        </m:r>
                        <m:r>
                          <a:rPr lang="en-IN" sz="2800" b="1" i="1" smtClean="0">
                            <a:latin typeface="Cambria Math" panose="02040503050406030204" pitchFamily="18" charset="0"/>
                            <a:cs typeface="Times New Roman" panose="02020603050405020304" pitchFamily="18" charset="0"/>
                          </a:rPr>
                          <m:t>,</m:t>
                        </m:r>
                        <m:r>
                          <a:rPr lang="en-IN" sz="2800" b="1" i="1" smtClean="0">
                            <a:latin typeface="Cambria Math" panose="02040503050406030204" pitchFamily="18" charset="0"/>
                            <a:cs typeface="Times New Roman" panose="02020603050405020304" pitchFamily="18" charset="0"/>
                          </a:rPr>
                          <m:t>𝟎𝟎𝟎</m:t>
                        </m:r>
                        <m:r>
                          <a:rPr lang="en-IN" sz="2800" b="1" i="1">
                            <a:latin typeface="Cambria Math" panose="02040503050406030204" pitchFamily="18" charset="0"/>
                            <a:cs typeface="Times New Roman" panose="02020603050405020304" pitchFamily="18" charset="0"/>
                          </a:rPr>
                          <m:t>/</m:t>
                        </m:r>
                        <m:r>
                          <a:rPr lang="en-IN" sz="2800" b="1" i="1" smtClean="0">
                            <a:latin typeface="Cambria Math" panose="02040503050406030204" pitchFamily="18" charset="0"/>
                            <a:cs typeface="Times New Roman" panose="02020603050405020304" pitchFamily="18" charset="0"/>
                          </a:rPr>
                          <m:t>𝟗</m:t>
                        </m:r>
                      </m:e>
                    </m:rad>
                  </m:oMath>
                </a14:m>
                <a:r>
                  <a:rPr lang="en-IN" sz="2800" dirty="0">
                    <a:latin typeface="Times New Roman" panose="02020603050405020304" pitchFamily="18" charset="0"/>
                    <a:cs typeface="Times New Roman" panose="02020603050405020304" pitchFamily="18" charset="0"/>
                  </a:rPr>
                  <a:t>  = </a:t>
                </a:r>
                <a14:m>
                  <m:oMath xmlns:m="http://schemas.openxmlformats.org/officeDocument/2006/math">
                    <m:rad>
                      <m:radPr>
                        <m:degHide m:val="on"/>
                        <m:ctrlPr>
                          <a:rPr lang="en-US" sz="2800" b="1" i="1">
                            <a:latin typeface="Cambria Math" panose="02040503050406030204" pitchFamily="18" charset="0"/>
                            <a:cs typeface="Times New Roman" panose="02020603050405020304" pitchFamily="18" charset="0"/>
                          </a:rPr>
                        </m:ctrlPr>
                      </m:radPr>
                      <m:deg/>
                      <m:e>
                        <m:r>
                          <a:rPr lang="en-IN" sz="2800" b="1" i="1" smtClean="0">
                            <a:latin typeface="Cambria Math" panose="02040503050406030204" pitchFamily="18" charset="0"/>
                            <a:cs typeface="Times New Roman" panose="02020603050405020304" pitchFamily="18" charset="0"/>
                          </a:rPr>
                          <m:t>𝟖</m:t>
                        </m:r>
                        <m:r>
                          <a:rPr lang="en-IN" sz="2800" b="1" i="1" smtClean="0">
                            <a:latin typeface="Cambria Math" panose="02040503050406030204" pitchFamily="18" charset="0"/>
                            <a:cs typeface="Times New Roman" panose="02020603050405020304" pitchFamily="18" charset="0"/>
                          </a:rPr>
                          <m:t>,</m:t>
                        </m:r>
                        <m:r>
                          <a:rPr lang="en-IN" sz="2800" b="1" i="1" smtClean="0">
                            <a:latin typeface="Cambria Math" panose="02040503050406030204" pitchFamily="18" charset="0"/>
                            <a:cs typeface="Times New Roman" panose="02020603050405020304" pitchFamily="18" charset="0"/>
                          </a:rPr>
                          <m:t>𝟎𝟎</m:t>
                        </m:r>
                        <m:r>
                          <a:rPr lang="en-IN" sz="2800" b="1" i="1" smtClean="0">
                            <a:latin typeface="Cambria Math" panose="02040503050406030204" pitchFamily="18" charset="0"/>
                            <a:cs typeface="Times New Roman" panose="02020603050405020304" pitchFamily="18" charset="0"/>
                          </a:rPr>
                          <m:t>,</m:t>
                        </m:r>
                        <m:r>
                          <a:rPr lang="en-IN" sz="2800" b="1" i="1" smtClean="0">
                            <a:latin typeface="Cambria Math" panose="02040503050406030204" pitchFamily="18" charset="0"/>
                            <a:cs typeface="Times New Roman" panose="02020603050405020304" pitchFamily="18" charset="0"/>
                          </a:rPr>
                          <m:t>𝟎𝟎𝟎</m:t>
                        </m:r>
                      </m:e>
                    </m:rad>
                  </m:oMath>
                </a14:m>
                <a:r>
                  <a:rPr lang="en-IN" sz="2800" dirty="0">
                    <a:latin typeface="Times New Roman" panose="02020603050405020304" pitchFamily="18" charset="0"/>
                    <a:cs typeface="Times New Roman" panose="02020603050405020304" pitchFamily="18" charset="0"/>
                  </a:rPr>
                  <a:t> = 894.43 (Approx)</a:t>
                </a:r>
              </a:p>
            </p:txBody>
          </p:sp>
        </mc:Choice>
        <mc:Fallback xmlns="">
          <p:sp>
            <p:nvSpPr>
              <p:cNvPr id="12" name="TextBox 11">
                <a:extLst>
                  <a:ext uri="{FF2B5EF4-FFF2-40B4-BE49-F238E27FC236}">
                    <a16:creationId xmlns:a16="http://schemas.microsoft.com/office/drawing/2014/main" id="{346F3D3C-A4AD-7284-BBDE-0C049481332C}"/>
                  </a:ext>
                </a:extLst>
              </p:cNvPr>
              <p:cNvSpPr txBox="1">
                <a:spLocks noRot="1" noChangeAspect="1" noMove="1" noResize="1" noEditPoints="1" noAdjustHandles="1" noChangeArrowheads="1" noChangeShapeType="1" noTextEdit="1"/>
              </p:cNvSpPr>
              <p:nvPr/>
            </p:nvSpPr>
            <p:spPr>
              <a:xfrm>
                <a:off x="690508" y="4422099"/>
                <a:ext cx="11193377" cy="1135952"/>
              </a:xfrm>
              <a:prstGeom prst="rect">
                <a:avLst/>
              </a:prstGeom>
              <a:blipFill>
                <a:blip r:embed="rId2"/>
                <a:stretch>
                  <a:fillRect b="-11230"/>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AA298299-0D8C-C627-6809-CADFEB7C4948}"/>
              </a:ext>
            </a:extLst>
          </p:cNvPr>
          <p:cNvSpPr txBox="1"/>
          <p:nvPr/>
        </p:nvSpPr>
        <p:spPr>
          <a:xfrm>
            <a:off x="699351" y="5577405"/>
            <a:ext cx="11193377" cy="584775"/>
          </a:xfrm>
          <a:prstGeom prst="rect">
            <a:avLst/>
          </a:prstGeom>
          <a:solidFill>
            <a:srgbClr val="66FFFF"/>
          </a:solidFill>
        </p:spPr>
        <p:txBody>
          <a:bodyPr wrap="square">
            <a:spAutoFit/>
          </a:bodyPr>
          <a:lstStyle/>
          <a:p>
            <a:pPr algn="ctr"/>
            <a:r>
              <a:rPr lang="en-IN" sz="3200" b="1" i="0" u="none" strike="noStrike" baseline="0" dirty="0">
                <a:solidFill>
                  <a:srgbClr val="FF0000"/>
                </a:solidFill>
                <a:latin typeface="AdvP5D8B"/>
              </a:rPr>
              <a:t>Orders Per Year </a:t>
            </a:r>
            <a:r>
              <a:rPr lang="en-IN" sz="3200" b="1" i="0" u="none" strike="noStrike" baseline="0" dirty="0">
                <a:solidFill>
                  <a:srgbClr val="FF0000"/>
                </a:solidFill>
                <a:latin typeface="AdvP4C4E74"/>
              </a:rPr>
              <a:t>= </a:t>
            </a:r>
            <a:r>
              <a:rPr lang="en-IN" sz="3200" b="1" i="0" u="none" strike="noStrike" baseline="0" dirty="0">
                <a:solidFill>
                  <a:srgbClr val="FF0000"/>
                </a:solidFill>
                <a:latin typeface="AdvP92E7"/>
              </a:rPr>
              <a:t>D / Q = </a:t>
            </a:r>
            <a:r>
              <a:rPr lang="en-IN" sz="3200" b="1" i="0" u="none" strike="noStrike" baseline="0" dirty="0">
                <a:solidFill>
                  <a:srgbClr val="FF0000"/>
                </a:solidFill>
                <a:latin typeface="AdvP5D8B"/>
              </a:rPr>
              <a:t>12,000 / 894.43  = 13</a:t>
            </a:r>
            <a:r>
              <a:rPr lang="en-IN" sz="3200" b="1" dirty="0">
                <a:solidFill>
                  <a:srgbClr val="FF0000"/>
                </a:solidFill>
                <a:latin typeface="AdvP4C4E51"/>
              </a:rPr>
              <a:t>.</a:t>
            </a:r>
            <a:r>
              <a:rPr lang="en-IN" sz="3200" b="1" i="0" u="none" strike="noStrike" baseline="0" dirty="0">
                <a:solidFill>
                  <a:srgbClr val="FF0000"/>
                </a:solidFill>
                <a:latin typeface="AdvP5D8B"/>
              </a:rPr>
              <a:t>416 (Approx)</a:t>
            </a:r>
            <a:endParaRPr lang="en-IN" b="1" dirty="0">
              <a:solidFill>
                <a:srgbClr val="FF0000"/>
              </a:solidFill>
            </a:endParaRPr>
          </a:p>
        </p:txBody>
      </p:sp>
    </p:spTree>
    <p:extLst>
      <p:ext uri="{BB962C8B-B14F-4D97-AF65-F5344CB8AC3E}">
        <p14:creationId xmlns:p14="http://schemas.microsoft.com/office/powerpoint/2010/main" val="2901273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2DE2A-5F82-8A75-BF03-3E8849A9FA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8E0217-5E5C-4F44-1DEB-32CB51BF072B}"/>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EA9D4BE0-B01F-773A-A4B1-BAC8646CC266}"/>
              </a:ext>
            </a:extLst>
          </p:cNvPr>
          <p:cNvSpPr/>
          <p:nvPr/>
        </p:nvSpPr>
        <p:spPr>
          <a:xfrm>
            <a:off x="0" y="0"/>
            <a:ext cx="12192000" cy="1141914"/>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latin typeface="Times New Roman" panose="02020603050405020304" pitchFamily="18" charset="0"/>
                <a:cs typeface="Times New Roman" panose="02020603050405020304" pitchFamily="18" charset="0"/>
              </a:rPr>
              <a:t>FIXED ORDER QUANTITY SYSTEM</a:t>
            </a:r>
            <a:endParaRPr lang="en-IN" sz="3600" b="1" dirty="0">
              <a:solidFill>
                <a:srgbClr val="FFFF00"/>
              </a:solidFill>
              <a:latin typeface="Times New Roman" panose="02020603050405020304" pitchFamily="18" charset="0"/>
              <a:cs typeface="Times New Roman" panose="02020603050405020304" pitchFamily="18" charset="0"/>
            </a:endParaRPr>
          </a:p>
          <a:p>
            <a:pPr algn="ctr"/>
            <a:r>
              <a:rPr lang="en-IN" sz="3600" b="1" dirty="0">
                <a:solidFill>
                  <a:srgbClr val="FFFF00"/>
                </a:solidFill>
                <a:latin typeface="Times New Roman" panose="02020603050405020304" pitchFamily="18" charset="0"/>
                <a:cs typeface="Times New Roman" panose="02020603050405020304" pitchFamily="18" charset="0"/>
              </a:rPr>
              <a:t>Determining Reorder Point (ROP) </a:t>
            </a:r>
          </a:p>
        </p:txBody>
      </p:sp>
      <p:sp>
        <p:nvSpPr>
          <p:cNvPr id="5" name="TextBox 4">
            <a:extLst>
              <a:ext uri="{FF2B5EF4-FFF2-40B4-BE49-F238E27FC236}">
                <a16:creationId xmlns:a16="http://schemas.microsoft.com/office/drawing/2014/main" id="{D79575D6-A52C-820D-B7FD-D66EA74B8253}"/>
              </a:ext>
            </a:extLst>
          </p:cNvPr>
          <p:cNvSpPr txBox="1"/>
          <p:nvPr/>
        </p:nvSpPr>
        <p:spPr>
          <a:xfrm>
            <a:off x="472966" y="1141914"/>
            <a:ext cx="6989718" cy="3416320"/>
          </a:xfrm>
          <a:prstGeom prst="rect">
            <a:avLst/>
          </a:prstGeom>
          <a:solidFill>
            <a:schemeClr val="accent4">
              <a:lumMod val="20000"/>
              <a:lumOff val="80000"/>
            </a:schemeClr>
          </a:solidFill>
        </p:spPr>
        <p:txBody>
          <a:bodyPr wrap="square">
            <a:spAutoFit/>
          </a:bodyPr>
          <a:lstStyle/>
          <a:p>
            <a:pPr marL="265113" indent="-265113" algn="just">
              <a:buFont typeface="Courier New" panose="02070309020205020404" pitchFamily="49" charset="0"/>
              <a:buChar char="o"/>
            </a:pPr>
            <a:r>
              <a:rPr lang="en-US" sz="2400" b="0" i="0" u="none" strike="noStrike" baseline="0" dirty="0">
                <a:latin typeface="Times New Roman" panose="02020603050405020304" pitchFamily="18" charset="0"/>
                <a:cs typeface="Times New Roman" panose="02020603050405020304" pitchFamily="18" charset="0"/>
              </a:rPr>
              <a:t>The </a:t>
            </a:r>
            <a:r>
              <a:rPr lang="en-US" sz="2400" b="1" i="0" u="none" strike="noStrike" baseline="0" dirty="0">
                <a:highlight>
                  <a:srgbClr val="00FFFF"/>
                </a:highlight>
                <a:latin typeface="Times New Roman" panose="02020603050405020304" pitchFamily="18" charset="0"/>
                <a:cs typeface="Times New Roman" panose="02020603050405020304" pitchFamily="18" charset="0"/>
              </a:rPr>
              <a:t>Reorder </a:t>
            </a:r>
            <a:r>
              <a:rPr lang="en-US" sz="2400" b="1" dirty="0">
                <a:highlight>
                  <a:srgbClr val="00FFFF"/>
                </a:highlight>
                <a:latin typeface="Times New Roman" panose="02020603050405020304" pitchFamily="18" charset="0"/>
                <a:cs typeface="Times New Roman" panose="02020603050405020304" pitchFamily="18" charset="0"/>
              </a:rPr>
              <a:t>Point</a:t>
            </a:r>
            <a:r>
              <a:rPr lang="en-US" sz="2400" b="1" i="0" u="none" strike="noStrike" baseline="0" dirty="0">
                <a:highlight>
                  <a:srgbClr val="00FFFF"/>
                </a:highlight>
                <a:latin typeface="Times New Roman" panose="02020603050405020304" pitchFamily="18" charset="0"/>
                <a:cs typeface="Times New Roman" panose="02020603050405020304" pitchFamily="18" charset="0"/>
              </a:rPr>
              <a:t> (ROP)</a:t>
            </a:r>
            <a:r>
              <a:rPr lang="en-US" sz="2400" b="0" i="0" u="none" strike="noStrike" baseline="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answers</a:t>
            </a:r>
            <a:r>
              <a:rPr lang="en-US" sz="2400" b="0" i="0" u="none" strike="noStrike" baseline="0" dirty="0">
                <a:latin typeface="Times New Roman" panose="02020603050405020304" pitchFamily="18" charset="0"/>
                <a:cs typeface="Times New Roman" panose="02020603050405020304" pitchFamily="18" charset="0"/>
              </a:rPr>
              <a:t> the question </a:t>
            </a:r>
            <a:r>
              <a:rPr lang="en-US" sz="2400" dirty="0">
                <a:latin typeface="Times New Roman" panose="02020603050405020304" pitchFamily="18" charset="0"/>
                <a:cs typeface="Times New Roman" panose="02020603050405020304" pitchFamily="18" charset="0"/>
              </a:rPr>
              <a:t>when more inventory will be reordered. </a:t>
            </a:r>
          </a:p>
          <a:p>
            <a:pPr marL="265113" indent="-265113" algn="just">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A Reorder Point (ROP) is the </a:t>
            </a:r>
            <a:r>
              <a:rPr lang="en-US" sz="2400" b="1" dirty="0">
                <a:highlight>
                  <a:srgbClr val="00FFFF"/>
                </a:highlight>
                <a:latin typeface="Times New Roman" panose="02020603050405020304" pitchFamily="18" charset="0"/>
                <a:cs typeface="Times New Roman" panose="02020603050405020304" pitchFamily="18" charset="0"/>
              </a:rPr>
              <a:t>specific, minimum inventory level that triggers a replenishment order for an item</a:t>
            </a:r>
            <a:r>
              <a:rPr lang="en-US" sz="2400" dirty="0">
                <a:latin typeface="Times New Roman" panose="02020603050405020304" pitchFamily="18" charset="0"/>
                <a:cs typeface="Times New Roman" panose="02020603050405020304" pitchFamily="18" charset="0"/>
              </a:rPr>
              <a:t>, ensuring stock is refilled before it runs out.</a:t>
            </a:r>
          </a:p>
          <a:p>
            <a:pPr marL="265113" indent="-265113" algn="just">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T</a:t>
            </a:r>
            <a:r>
              <a:rPr lang="en-US" sz="2400" b="0" i="0" u="none" strike="noStrike" baseline="0" dirty="0">
                <a:latin typeface="Times New Roman" panose="02020603050405020304" pitchFamily="18" charset="0"/>
                <a:cs typeface="Times New Roman" panose="02020603050405020304" pitchFamily="18" charset="0"/>
              </a:rPr>
              <a:t>he reorder point would simply be enough inventory to ensure that demand is covered during the length of the lead time. </a:t>
            </a:r>
          </a:p>
        </p:txBody>
      </p:sp>
      <p:pic>
        <p:nvPicPr>
          <p:cNvPr id="3" name="Picture 2">
            <a:extLst>
              <a:ext uri="{FF2B5EF4-FFF2-40B4-BE49-F238E27FC236}">
                <a16:creationId xmlns:a16="http://schemas.microsoft.com/office/drawing/2014/main" id="{1176263B-461D-0C06-DBB9-A8F33108A222}"/>
              </a:ext>
            </a:extLst>
          </p:cNvPr>
          <p:cNvPicPr>
            <a:picLocks noChangeAspect="1"/>
          </p:cNvPicPr>
          <p:nvPr/>
        </p:nvPicPr>
        <p:blipFill>
          <a:blip r:embed="rId2">
            <a:duotone>
              <a:prstClr val="black"/>
              <a:schemeClr val="accent6">
                <a:tint val="45000"/>
                <a:satMod val="400000"/>
              </a:schemeClr>
            </a:duotone>
          </a:blip>
          <a:stretch>
            <a:fillRect/>
          </a:stretch>
        </p:blipFill>
        <p:spPr>
          <a:xfrm>
            <a:off x="7462684" y="1828520"/>
            <a:ext cx="4514349" cy="2061757"/>
          </a:xfrm>
          <a:prstGeom prst="rect">
            <a:avLst/>
          </a:prstGeom>
        </p:spPr>
      </p:pic>
      <p:pic>
        <p:nvPicPr>
          <p:cNvPr id="6" name="Picture 5">
            <a:extLst>
              <a:ext uri="{FF2B5EF4-FFF2-40B4-BE49-F238E27FC236}">
                <a16:creationId xmlns:a16="http://schemas.microsoft.com/office/drawing/2014/main" id="{E56CD8A9-C9D7-0AF3-ADA4-C668F7D5620D}"/>
              </a:ext>
            </a:extLst>
          </p:cNvPr>
          <p:cNvPicPr>
            <a:picLocks noChangeAspect="1"/>
          </p:cNvPicPr>
          <p:nvPr/>
        </p:nvPicPr>
        <p:blipFill>
          <a:blip r:embed="rId3"/>
          <a:stretch>
            <a:fillRect/>
          </a:stretch>
        </p:blipFill>
        <p:spPr>
          <a:xfrm>
            <a:off x="384478" y="4461234"/>
            <a:ext cx="10863971" cy="2000205"/>
          </a:xfrm>
          <a:prstGeom prst="rect">
            <a:avLst/>
          </a:prstGeom>
        </p:spPr>
      </p:pic>
    </p:spTree>
    <p:extLst>
      <p:ext uri="{BB962C8B-B14F-4D97-AF65-F5344CB8AC3E}">
        <p14:creationId xmlns:p14="http://schemas.microsoft.com/office/powerpoint/2010/main" val="1946847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2A659-A70A-E78C-3541-C5C438319E6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BC0361A-067A-A9A2-2CD8-C88DF7F33E4C}"/>
              </a:ext>
            </a:extLst>
          </p:cNvPr>
          <p:cNvSpPr/>
          <p:nvPr/>
        </p:nvSpPr>
        <p:spPr>
          <a:xfrm>
            <a:off x="0" y="0"/>
            <a:ext cx="472966" cy="685800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4857DE0C-5781-11A9-6D5E-DFB33B327E7A}"/>
              </a:ext>
            </a:extLst>
          </p:cNvPr>
          <p:cNvSpPr/>
          <p:nvPr/>
        </p:nvSpPr>
        <p:spPr>
          <a:xfrm>
            <a:off x="0" y="0"/>
            <a:ext cx="12192000" cy="945932"/>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solidFill>
                  <a:schemeClr val="bg1"/>
                </a:solidFill>
                <a:latin typeface="Times New Roman" panose="02020603050405020304" pitchFamily="18" charset="0"/>
                <a:cs typeface="Times New Roman" panose="02020603050405020304" pitchFamily="18" charset="0"/>
              </a:rPr>
              <a:t>FIXED ORDER QUANTITY SYSTEM</a:t>
            </a:r>
            <a:endParaRPr lang="en-IN" sz="3600" b="1" dirty="0">
              <a:solidFill>
                <a:srgbClr val="FFFF00"/>
              </a:solidFill>
              <a:latin typeface="Times New Roman" panose="02020603050405020304" pitchFamily="18" charset="0"/>
              <a:cs typeface="Times New Roman" panose="02020603050405020304" pitchFamily="18" charset="0"/>
            </a:endParaRPr>
          </a:p>
          <a:p>
            <a:pPr algn="ctr"/>
            <a:r>
              <a:rPr lang="en-IN" sz="3600" b="1" dirty="0">
                <a:solidFill>
                  <a:srgbClr val="FFFF00"/>
                </a:solidFill>
                <a:latin typeface="Times New Roman" panose="02020603050405020304" pitchFamily="18" charset="0"/>
                <a:cs typeface="Times New Roman" panose="02020603050405020304" pitchFamily="18" charset="0"/>
              </a:rPr>
              <a:t>Determining Reorder Point (ROP) </a:t>
            </a:r>
          </a:p>
        </p:txBody>
      </p:sp>
      <p:sp>
        <p:nvSpPr>
          <p:cNvPr id="8" name="TextBox 7">
            <a:extLst>
              <a:ext uri="{FF2B5EF4-FFF2-40B4-BE49-F238E27FC236}">
                <a16:creationId xmlns:a16="http://schemas.microsoft.com/office/drawing/2014/main" id="{78F08B53-E703-54AE-3136-3DECEE52FF7A}"/>
              </a:ext>
            </a:extLst>
          </p:cNvPr>
          <p:cNvSpPr txBox="1"/>
          <p:nvPr/>
        </p:nvSpPr>
        <p:spPr>
          <a:xfrm>
            <a:off x="472966" y="945932"/>
            <a:ext cx="10949153" cy="1384995"/>
          </a:xfrm>
          <a:prstGeom prst="rect">
            <a:avLst/>
          </a:prstGeom>
          <a:solidFill>
            <a:schemeClr val="accent4">
              <a:lumMod val="20000"/>
              <a:lumOff val="80000"/>
            </a:schemeClr>
          </a:solid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average number of units sold or used by </a:t>
            </a:r>
            <a:r>
              <a:rPr lang="en-US" sz="2800" b="0" i="0" u="none" strike="noStrike" baseline="0" dirty="0">
                <a:latin typeface="Times New Roman" panose="02020603050405020304" pitchFamily="18" charset="0"/>
                <a:cs typeface="Times New Roman" panose="02020603050405020304" pitchFamily="18" charset="0"/>
              </a:rPr>
              <a:t>Georgia Florists is 250 units per week, and t</a:t>
            </a:r>
            <a:r>
              <a:rPr lang="en-US" sz="2800" dirty="0">
                <a:latin typeface="Times New Roman" panose="02020603050405020304" pitchFamily="18" charset="0"/>
                <a:cs typeface="Times New Roman" panose="02020603050405020304" pitchFamily="18" charset="0"/>
              </a:rPr>
              <a:t>he time it takes for a vendor to deliver an order is one week. Calculate the Reorder Point (ROP)</a:t>
            </a:r>
            <a:endParaRPr lang="en-IN" sz="28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A96E55CD-9EEC-7567-F9FA-93A72406A4B0}"/>
              </a:ext>
            </a:extLst>
          </p:cNvPr>
          <p:cNvSpPr txBox="1"/>
          <p:nvPr/>
        </p:nvSpPr>
        <p:spPr>
          <a:xfrm>
            <a:off x="481949" y="2330927"/>
            <a:ext cx="10949153" cy="1569660"/>
          </a:xfrm>
          <a:prstGeom prst="rect">
            <a:avLst/>
          </a:prstGeom>
          <a:solidFill>
            <a:srgbClr val="FFFFCC"/>
          </a:solidFill>
        </p:spPr>
        <p:txBody>
          <a:bodyPr wrap="square">
            <a:spAutoFit/>
          </a:bodyPr>
          <a:lstStyle/>
          <a:p>
            <a:r>
              <a:rPr lang="en-US" sz="3200" b="0" i="0" u="none" strike="noStrike" baseline="0" dirty="0">
                <a:latin typeface="Times New Roman" panose="02020603050405020304" pitchFamily="18" charset="0"/>
                <a:cs typeface="Times New Roman" panose="02020603050405020304" pitchFamily="18" charset="0"/>
              </a:rPr>
              <a:t>It is given </a:t>
            </a:r>
          </a:p>
          <a:p>
            <a:r>
              <a:rPr lang="en-US" sz="3200" b="0" i="0" u="none" strike="noStrike" baseline="0" dirty="0">
                <a:latin typeface="Times New Roman" panose="02020603050405020304" pitchFamily="18" charset="0"/>
                <a:cs typeface="Times New Roman" panose="02020603050405020304" pitchFamily="18" charset="0"/>
              </a:rPr>
              <a:t>	d = 250 and L = 1 week</a:t>
            </a:r>
          </a:p>
          <a:p>
            <a:r>
              <a:rPr lang="en-US" sz="3200" b="1" i="0" u="none" strike="noStrike" baseline="0" dirty="0">
                <a:solidFill>
                  <a:srgbClr val="FF0000"/>
                </a:solidFill>
                <a:latin typeface="Times New Roman" panose="02020603050405020304" pitchFamily="18" charset="0"/>
                <a:cs typeface="Times New Roman" panose="02020603050405020304" pitchFamily="18" charset="0"/>
              </a:rPr>
              <a:t>Reorder Point (ROP) = d * L </a:t>
            </a:r>
            <a:r>
              <a:rPr lang="en-US" sz="3200" b="0" i="0" u="none" strike="noStrike" baseline="0" dirty="0">
                <a:latin typeface="Times New Roman" panose="02020603050405020304" pitchFamily="18" charset="0"/>
                <a:cs typeface="Times New Roman" panose="02020603050405020304" pitchFamily="18" charset="0"/>
              </a:rPr>
              <a:t>= 250 * 1 week = 250 units</a:t>
            </a:r>
            <a:endParaRPr lang="en-IN" sz="3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C9CF46F-07D7-8C31-F25C-7CE080B149F9}"/>
              </a:ext>
            </a:extLst>
          </p:cNvPr>
          <p:cNvSpPr txBox="1"/>
          <p:nvPr/>
        </p:nvSpPr>
        <p:spPr>
          <a:xfrm>
            <a:off x="472966" y="3900587"/>
            <a:ext cx="10949153" cy="2062103"/>
          </a:xfrm>
          <a:prstGeom prst="rect">
            <a:avLst/>
          </a:prstGeom>
          <a:solidFill>
            <a:schemeClr val="accent5">
              <a:lumMod val="20000"/>
              <a:lumOff val="80000"/>
            </a:schemeClr>
          </a:solidFill>
        </p:spPr>
        <p:txBody>
          <a:bodyPr wrap="square">
            <a:spAutoFit/>
          </a:bodyPr>
          <a:lstStyle/>
          <a:p>
            <a:pPr marL="457200" indent="-457200" algn="l">
              <a:buFont typeface="Arial" panose="020B0604020202020204" pitchFamily="34" charset="0"/>
              <a:buChar char="•"/>
            </a:pPr>
            <a:r>
              <a:rPr lang="en-US" sz="3200" b="0" i="0" u="none" strike="noStrike" baseline="0" dirty="0">
                <a:latin typeface="Times New Roman" panose="02020603050405020304" pitchFamily="18" charset="0"/>
                <a:cs typeface="Times New Roman" panose="02020603050405020304" pitchFamily="18" charset="0"/>
              </a:rPr>
              <a:t>The order policy for Georgia’s Florists is defined by the EOQ and ROP. </a:t>
            </a:r>
          </a:p>
          <a:p>
            <a:pPr marL="457200" indent="-457200" algn="l">
              <a:buFont typeface="Arial" panose="020B0604020202020204" pitchFamily="34" charset="0"/>
              <a:buChar char="•"/>
            </a:pPr>
            <a:r>
              <a:rPr lang="en-US" sz="3200" b="0" i="0" u="none" strike="noStrike" baseline="0" dirty="0">
                <a:latin typeface="Times New Roman" panose="02020603050405020304" pitchFamily="18" charset="0"/>
                <a:cs typeface="Times New Roman" panose="02020603050405020304" pitchFamily="18" charset="0"/>
              </a:rPr>
              <a:t>This would mean </a:t>
            </a:r>
            <a:r>
              <a:rPr lang="en-US" sz="3200" dirty="0">
                <a:latin typeface="Times New Roman" panose="02020603050405020304" pitchFamily="18" charset="0"/>
                <a:cs typeface="Times New Roman" panose="02020603050405020304" pitchFamily="18" charset="0"/>
              </a:rPr>
              <a:t>that Georgia’s Florists will </a:t>
            </a:r>
            <a:r>
              <a:rPr lang="en-US" sz="3200" b="0" i="0" u="none" strike="noStrike" baseline="0" dirty="0">
                <a:latin typeface="Times New Roman" panose="02020603050405020304" pitchFamily="18" charset="0"/>
                <a:cs typeface="Times New Roman" panose="02020603050405020304" pitchFamily="18" charset="0"/>
              </a:rPr>
              <a:t>order 894.43, say 895 orchids when inventory drops to 250 </a:t>
            </a:r>
            <a:r>
              <a:rPr lang="en-IN" sz="3200" b="0" i="0" u="none" strike="noStrike" baseline="0" dirty="0">
                <a:latin typeface="Times New Roman" panose="02020603050405020304" pitchFamily="18" charset="0"/>
                <a:cs typeface="Times New Roman" panose="02020603050405020304" pitchFamily="18" charset="0"/>
              </a:rPr>
              <a:t>orchids.</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10934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783</TotalTime>
  <Words>1707</Words>
  <Application>Microsoft Office PowerPoint</Application>
  <PresentationFormat>Widescreen</PresentationFormat>
  <Paragraphs>134</Paragraphs>
  <Slides>18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AdvP4C4E51</vt:lpstr>
      <vt:lpstr>AdvP4C4E74</vt:lpstr>
      <vt:lpstr>AdvP5D8B</vt:lpstr>
      <vt:lpstr>AdvP92E7</vt:lpstr>
      <vt:lpstr>Arial</vt:lpstr>
      <vt:lpstr>Calibri</vt:lpstr>
      <vt:lpstr>Calibri Light</vt:lpstr>
      <vt:lpstr>Cambria Math</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Rabindra Mohanty</dc:creator>
  <cp:lastModifiedBy>MINAKETAN SARANGI</cp:lastModifiedBy>
  <cp:revision>82</cp:revision>
  <dcterms:created xsi:type="dcterms:W3CDTF">2026-03-10T15:50:54Z</dcterms:created>
  <dcterms:modified xsi:type="dcterms:W3CDTF">2026-05-12T10:16:49Z</dcterms:modified>
</cp:coreProperties>
</file>